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E7B3AD-0200-4C08-884D-0D713E3854AC}">
  <a:tblStyle styleId="{23E7B3AD-0200-4C08-884D-0D713E3854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6e5db0b49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b6e5db0b49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b6e5db0b49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6e5db0b4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b6e5db0b49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b6e5db0b49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6e5db0b49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b6e5db0b49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b6e5db0b49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6e5db0b49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b6e5db0b49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b6e5db0b49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b6e5db0b49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b6e5db0b49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b6e5db0b49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6e5db0b49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b6e5db0b49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b6e5db0b49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6e5db0b49_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b6e5db0b49_1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b6e5db0b49_1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6e5db0b49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b6e5db0b49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b6e5db0b49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6e5db0b49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b6e5db0b49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b6e5db0b49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6e5db0b49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b6e5db0b49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b6e5db0b49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6e5db0b49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b6e5db0b49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b6e5db0b49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6e5db0b49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b6e5db0b49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3b6e5db0b49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b6e5db0b49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b6e5db0b49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b6e5db0b49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grpSp>
        <p:nvGrpSpPr>
          <p:cNvPr id="16" name="Google Shape;16;p2"/>
          <p:cNvGrpSpPr/>
          <p:nvPr/>
        </p:nvGrpSpPr>
        <p:grpSpPr>
          <a:xfrm>
            <a:off x="1" y="0"/>
            <a:ext cx="12191999" cy="6858000"/>
            <a:chOff x="1" y="0"/>
            <a:chExt cx="12191999" cy="6858000"/>
          </a:xfrm>
        </p:grpSpPr>
        <p:sp>
          <p:nvSpPr>
            <p:cNvPr id="17" name="Google Shape;17;p2"/>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 name="Google Shape;18;p2"/>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2"/>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0" name="Google Shape;20;p2"/>
            <p:cNvGrpSpPr/>
            <p:nvPr/>
          </p:nvGrpSpPr>
          <p:grpSpPr>
            <a:xfrm>
              <a:off x="8082092" y="5590903"/>
              <a:ext cx="1572380" cy="1267097"/>
              <a:chOff x="7413403" y="4976359"/>
              <a:chExt cx="2334986" cy="1881641"/>
            </a:xfrm>
          </p:grpSpPr>
          <p:sp>
            <p:nvSpPr>
              <p:cNvPr id="21" name="Google Shape;21;p2"/>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 name="Google Shape;22;p2"/>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grpSp>
      <p:sp>
        <p:nvSpPr>
          <p:cNvPr id="23" name="Google Shape;23;p2"/>
          <p:cNvSpPr txBox="1"/>
          <p:nvPr>
            <p:ph type="title"/>
          </p:nvPr>
        </p:nvSpPr>
        <p:spPr>
          <a:xfrm>
            <a:off x="1158864" y="102021"/>
            <a:ext cx="9779183" cy="1744415"/>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4200"/>
              <a:buFont typeface="Arial"/>
              <a:buNone/>
              <a:defRPr b="1" sz="4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
          <p:cNvSpPr txBox="1"/>
          <p:nvPr>
            <p:ph idx="1" type="body"/>
          </p:nvPr>
        </p:nvSpPr>
        <p:spPr>
          <a:xfrm>
            <a:off x="1158865" y="2017467"/>
            <a:ext cx="9779182" cy="336681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3"/>
          <p:cNvSpPr/>
          <p:nvPr/>
        </p:nvSpPr>
        <p:spPr>
          <a:xfrm>
            <a:off x="0" y="4572000"/>
            <a:ext cx="12192000" cy="2286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30" name="Google Shape;30;p3"/>
          <p:cNvGrpSpPr/>
          <p:nvPr/>
        </p:nvGrpSpPr>
        <p:grpSpPr>
          <a:xfrm>
            <a:off x="0" y="-3419"/>
            <a:ext cx="12192000" cy="6861419"/>
            <a:chOff x="0" y="-3419"/>
            <a:chExt cx="12192000" cy="6861419"/>
          </a:xfrm>
        </p:grpSpPr>
        <p:sp>
          <p:nvSpPr>
            <p:cNvPr id="31" name="Google Shape;31;p3"/>
            <p:cNvSpPr/>
            <p:nvPr/>
          </p:nvSpPr>
          <p:spPr>
            <a:xfrm>
              <a:off x="583746" y="4960030"/>
              <a:ext cx="1551214" cy="1551214"/>
            </a:xfrm>
            <a:prstGeom prst="ellipse">
              <a:avLst/>
            </a:prstGeom>
            <a:solidFill>
              <a:schemeClr val="dk2"/>
            </a:solidFill>
            <a:ln cap="flat" cmpd="sng" w="12700">
              <a:solidFill>
                <a:srgbClr val="004BB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2" name="Google Shape;32;p3"/>
            <p:cNvSpPr/>
            <p:nvPr/>
          </p:nvSpPr>
          <p:spPr>
            <a:xfrm>
              <a:off x="1" y="4571999"/>
              <a:ext cx="1118508" cy="1118508"/>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3" name="Google Shape;33;p3"/>
            <p:cNvSpPr/>
            <p:nvPr/>
          </p:nvSpPr>
          <p:spPr>
            <a:xfrm>
              <a:off x="1" y="5739492"/>
              <a:ext cx="1118508" cy="1118508"/>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34" name="Google Shape;34;p3"/>
            <p:cNvGrpSpPr/>
            <p:nvPr/>
          </p:nvGrpSpPr>
          <p:grpSpPr>
            <a:xfrm>
              <a:off x="8264427" y="-3419"/>
              <a:ext cx="3927573" cy="3165022"/>
              <a:chOff x="9857014" y="13834"/>
              <a:chExt cx="2334986" cy="1881641"/>
            </a:xfrm>
          </p:grpSpPr>
          <p:sp>
            <p:nvSpPr>
              <p:cNvPr id="35" name="Google Shape;35;p3"/>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6" name="Google Shape;36;p3"/>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37" name="Google Shape;37;p3"/>
            <p:cNvSpPr/>
            <p:nvPr/>
          </p:nvSpPr>
          <p:spPr>
            <a:xfrm>
              <a:off x="0" y="-1"/>
              <a:ext cx="1167493" cy="1167493"/>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8" name="Google Shape;38;p3"/>
            <p:cNvSpPr/>
            <p:nvPr/>
          </p:nvSpPr>
          <p:spPr>
            <a:xfrm>
              <a:off x="11024507" y="4580708"/>
              <a:ext cx="1167493" cy="2277292"/>
            </a:xfrm>
            <a:custGeom>
              <a:rect b="b" l="l" r="r" t="t"/>
              <a:pathLst>
                <a:path extrusionOk="0" h="2272167" w="1167493">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39" name="Google Shape;39;p3"/>
          <p:cNvSpPr txBox="1"/>
          <p:nvPr>
            <p:ph type="ctrTitle"/>
          </p:nvPr>
        </p:nvSpPr>
        <p:spPr>
          <a:xfrm>
            <a:off x="1167493" y="232913"/>
            <a:ext cx="7096933" cy="383013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6000"/>
              <a:buFont typeface="Arial"/>
              <a:buNone/>
              <a:defRPr b="1"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Image">
  <p:cSld name="Title and Left Image">
    <p:spTree>
      <p:nvGrpSpPr>
        <p:cNvPr id="40" name="Shape 40"/>
        <p:cNvGrpSpPr/>
        <p:nvPr/>
      </p:nvGrpSpPr>
      <p:grpSpPr>
        <a:xfrm>
          <a:off x="0" y="0"/>
          <a:ext cx="0" cy="0"/>
          <a:chOff x="0" y="0"/>
          <a:chExt cx="0" cy="0"/>
        </a:xfrm>
      </p:grpSpPr>
      <p:grpSp>
        <p:nvGrpSpPr>
          <p:cNvPr id="41" name="Google Shape;41;p4"/>
          <p:cNvGrpSpPr/>
          <p:nvPr/>
        </p:nvGrpSpPr>
        <p:grpSpPr>
          <a:xfrm>
            <a:off x="1" y="0"/>
            <a:ext cx="12191999" cy="6858000"/>
            <a:chOff x="1" y="0"/>
            <a:chExt cx="12191999" cy="6858000"/>
          </a:xfrm>
        </p:grpSpPr>
        <p:sp>
          <p:nvSpPr>
            <p:cNvPr id="42" name="Google Shape;42;p4"/>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3" name="Google Shape;43;p4"/>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4" name="Google Shape;44;p4"/>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45" name="Google Shape;45;p4"/>
            <p:cNvGrpSpPr/>
            <p:nvPr/>
          </p:nvGrpSpPr>
          <p:grpSpPr>
            <a:xfrm>
              <a:off x="8082092" y="5590903"/>
              <a:ext cx="1572380" cy="1267097"/>
              <a:chOff x="7413403" y="4976359"/>
              <a:chExt cx="2334986" cy="1881641"/>
            </a:xfrm>
          </p:grpSpPr>
          <p:sp>
            <p:nvSpPr>
              <p:cNvPr id="46" name="Google Shape;46;p4"/>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7" name="Google Shape;47;p4"/>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grpSp>
      <p:sp>
        <p:nvSpPr>
          <p:cNvPr id="48" name="Google Shape;48;p4"/>
          <p:cNvSpPr txBox="1"/>
          <p:nvPr>
            <p:ph type="title"/>
          </p:nvPr>
        </p:nvSpPr>
        <p:spPr>
          <a:xfrm>
            <a:off x="5943600" y="457200"/>
            <a:ext cx="5120640" cy="320040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6000"/>
              <a:buFont typeface="Arial"/>
              <a:buNone/>
              <a:defRPr b="1"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
          <p:cNvSpPr txBox="1"/>
          <p:nvPr>
            <p:ph idx="1" type="subTitle"/>
          </p:nvPr>
        </p:nvSpPr>
        <p:spPr>
          <a:xfrm>
            <a:off x="5943598" y="3657600"/>
            <a:ext cx="5120640" cy="1828800"/>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3200"/>
              <a:buNone/>
              <a:defRPr sz="32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0" name="Google Shape;50;p4"/>
          <p:cNvSpPr/>
          <p:nvPr>
            <p:ph idx="2" type="pic"/>
          </p:nvPr>
        </p:nvSpPr>
        <p:spPr>
          <a:xfrm>
            <a:off x="904238" y="1157224"/>
            <a:ext cx="4500562" cy="4521200"/>
          </a:xfrm>
          <a:prstGeom prst="ellipse">
            <a:avLst/>
          </a:prstGeom>
          <a:solidFill>
            <a:schemeClr val="accent2"/>
          </a:solidFill>
          <a:ln>
            <a:noFill/>
          </a:ln>
        </p:spPr>
      </p:sp>
      <p:sp>
        <p:nvSpPr>
          <p:cNvPr id="51" name="Google Shape;51;p4"/>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p:cSld name="Title and 2 content">
    <p:bg>
      <p:bgPr>
        <a:solidFill>
          <a:schemeClr val="accent1"/>
        </a:solidFill>
      </p:bgPr>
    </p:bg>
    <p:spTree>
      <p:nvGrpSpPr>
        <p:cNvPr id="54" name="Shape 54"/>
        <p:cNvGrpSpPr/>
        <p:nvPr/>
      </p:nvGrpSpPr>
      <p:grpSpPr>
        <a:xfrm>
          <a:off x="0" y="0"/>
          <a:ext cx="0" cy="0"/>
          <a:chOff x="0" y="0"/>
          <a:chExt cx="0" cy="0"/>
        </a:xfrm>
      </p:grpSpPr>
      <p:grpSp>
        <p:nvGrpSpPr>
          <p:cNvPr id="55" name="Google Shape;55;p5"/>
          <p:cNvGrpSpPr/>
          <p:nvPr/>
        </p:nvGrpSpPr>
        <p:grpSpPr>
          <a:xfrm>
            <a:off x="1" y="1"/>
            <a:ext cx="12191999" cy="6857999"/>
            <a:chOff x="1" y="1"/>
            <a:chExt cx="12191999" cy="6857999"/>
          </a:xfrm>
        </p:grpSpPr>
        <p:sp>
          <p:nvSpPr>
            <p:cNvPr id="56" name="Google Shape;56;p5"/>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 name="Google Shape;57;p5"/>
            <p:cNvSpPr/>
            <p:nvPr/>
          </p:nvSpPr>
          <p:spPr>
            <a:xfrm flipH="1" rot="5400000">
              <a:off x="1"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8" name="Google Shape;58;p5"/>
          <p:cNvSpPr txBox="1"/>
          <p:nvPr>
            <p:ph type="title"/>
          </p:nvPr>
        </p:nvSpPr>
        <p:spPr>
          <a:xfrm>
            <a:off x="1167492" y="69008"/>
            <a:ext cx="9779183" cy="1706563"/>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lt1"/>
              </a:buClr>
              <a:buSzPts val="4200"/>
              <a:buFont typeface="Arial"/>
              <a:buNone/>
              <a:defRPr b="1" sz="4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5"/>
          <p:cNvSpPr txBox="1"/>
          <p:nvPr>
            <p:ph idx="1" type="body"/>
          </p:nvPr>
        </p:nvSpPr>
        <p:spPr>
          <a:xfrm>
            <a:off x="1167493" y="2023984"/>
            <a:ext cx="4663440" cy="333283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lt1"/>
              </a:buClr>
              <a:buSzPts val="2000"/>
              <a:buFont typeface="Arial"/>
              <a:buAutoNum type="arabicPeriod"/>
              <a:defRPr sz="2000">
                <a:solidFill>
                  <a:schemeClr val="lt1"/>
                </a:solidFill>
                <a:latin typeface="Arial"/>
                <a:ea typeface="Arial"/>
                <a:cs typeface="Arial"/>
                <a:sym typeface="Arial"/>
              </a:defRPr>
            </a:lvl1pPr>
            <a:lvl2pPr indent="-355600" lvl="1" marL="914400" algn="l">
              <a:lnSpc>
                <a:spcPct val="90000"/>
              </a:lnSpc>
              <a:spcBef>
                <a:spcPts val="1000"/>
              </a:spcBef>
              <a:spcAft>
                <a:spcPts val="0"/>
              </a:spcAft>
              <a:buClr>
                <a:schemeClr val="lt1"/>
              </a:buClr>
              <a:buSzPts val="2000"/>
              <a:buFont typeface="Arial"/>
              <a:buAutoNum type="alphaLcPeriod"/>
              <a:defRPr sz="2000">
                <a:solidFill>
                  <a:schemeClr val="lt1"/>
                </a:solidFill>
                <a:latin typeface="Arial"/>
                <a:ea typeface="Arial"/>
                <a:cs typeface="Arial"/>
                <a:sym typeface="Arial"/>
              </a:defRPr>
            </a:lvl2pPr>
            <a:lvl3pPr indent="-355600" lvl="2" marL="1371600" algn="l">
              <a:lnSpc>
                <a:spcPct val="90000"/>
              </a:lnSpc>
              <a:spcBef>
                <a:spcPts val="1000"/>
              </a:spcBef>
              <a:spcAft>
                <a:spcPts val="0"/>
              </a:spcAft>
              <a:buClr>
                <a:schemeClr val="lt1"/>
              </a:buClr>
              <a:buSzPts val="2000"/>
              <a:buFont typeface="Arial"/>
              <a:buAutoNum type="arabicParenR"/>
              <a:defRPr sz="2000">
                <a:solidFill>
                  <a:schemeClr val="lt1"/>
                </a:solidFill>
                <a:latin typeface="Arial"/>
                <a:ea typeface="Arial"/>
                <a:cs typeface="Arial"/>
                <a:sym typeface="Arial"/>
              </a:defRPr>
            </a:lvl3pPr>
            <a:lvl4pPr indent="-355600" lvl="3" marL="1828800" algn="l">
              <a:lnSpc>
                <a:spcPct val="90000"/>
              </a:lnSpc>
              <a:spcBef>
                <a:spcPts val="1000"/>
              </a:spcBef>
              <a:spcAft>
                <a:spcPts val="0"/>
              </a:spcAft>
              <a:buClr>
                <a:schemeClr val="lt1"/>
              </a:buClr>
              <a:buSzPts val="2000"/>
              <a:buFont typeface="Arial"/>
              <a:buAutoNum type="alphaLcParenR"/>
              <a:defRPr sz="2000">
                <a:solidFill>
                  <a:schemeClr val="lt1"/>
                </a:solidFill>
                <a:latin typeface="Arial"/>
                <a:ea typeface="Arial"/>
                <a:cs typeface="Arial"/>
                <a:sym typeface="Arial"/>
              </a:defRPr>
            </a:lvl4pPr>
            <a:lvl5pPr indent="-355600" lvl="4" marL="2286000" algn="l">
              <a:lnSpc>
                <a:spcPct val="90000"/>
              </a:lnSpc>
              <a:spcBef>
                <a:spcPts val="1000"/>
              </a:spcBef>
              <a:spcAft>
                <a:spcPts val="0"/>
              </a:spcAft>
              <a:buClr>
                <a:schemeClr val="lt1"/>
              </a:buClr>
              <a:buSzPts val="2000"/>
              <a:buFont typeface="Arial"/>
              <a:buAutoNum type="romanLcPeriod"/>
              <a:defRPr sz="20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5"/>
          <p:cNvSpPr txBox="1"/>
          <p:nvPr>
            <p:ph idx="2" type="body"/>
          </p:nvPr>
        </p:nvSpPr>
        <p:spPr>
          <a:xfrm>
            <a:off x="6283235" y="2023984"/>
            <a:ext cx="4663440" cy="33328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Font typeface="Arial"/>
              <a:buNone/>
              <a:defRPr sz="2000">
                <a:solidFill>
                  <a:schemeClr val="lt1"/>
                </a:solidFill>
                <a:latin typeface="Arial"/>
                <a:ea typeface="Arial"/>
                <a:cs typeface="Arial"/>
                <a:sym typeface="Arial"/>
              </a:defRPr>
            </a:lvl1pPr>
            <a:lvl2pPr indent="-355600" lvl="1" marL="9144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2pPr>
            <a:lvl3pPr indent="-355600" lvl="2" marL="13716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3pPr>
            <a:lvl4pPr indent="-355600" lvl="3" marL="18288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4pPr>
            <a:lvl5pPr indent="-355600" lvl="4" marL="22860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5"/>
          <p:cNvSpPr txBox="1"/>
          <p:nvPr>
            <p:ph idx="10" type="dt"/>
          </p:nvPr>
        </p:nvSpPr>
        <p:spPr>
          <a:xfrm>
            <a:off x="381000" y="6356350"/>
            <a:ext cx="170101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accent2"/>
                </a:solidFill>
                <a:latin typeface="Arial"/>
                <a:ea typeface="Arial"/>
                <a:cs typeface="Arial"/>
                <a:sym typeface="Arial"/>
              </a:defRPr>
            </a:lvl1pPr>
            <a:lvl2pPr indent="0" lvl="1" marL="0" algn="r">
              <a:spcBef>
                <a:spcPts val="0"/>
              </a:spcBef>
              <a:buNone/>
              <a:defRPr sz="1200">
                <a:solidFill>
                  <a:schemeClr val="accent2"/>
                </a:solidFill>
                <a:latin typeface="Arial"/>
                <a:ea typeface="Arial"/>
                <a:cs typeface="Arial"/>
                <a:sym typeface="Arial"/>
              </a:defRPr>
            </a:lvl2pPr>
            <a:lvl3pPr indent="0" lvl="2" marL="0" algn="r">
              <a:spcBef>
                <a:spcPts val="0"/>
              </a:spcBef>
              <a:buNone/>
              <a:defRPr sz="1200">
                <a:solidFill>
                  <a:schemeClr val="accent2"/>
                </a:solidFill>
                <a:latin typeface="Arial"/>
                <a:ea typeface="Arial"/>
                <a:cs typeface="Arial"/>
                <a:sym typeface="Arial"/>
              </a:defRPr>
            </a:lvl3pPr>
            <a:lvl4pPr indent="0" lvl="3" marL="0" algn="r">
              <a:spcBef>
                <a:spcPts val="0"/>
              </a:spcBef>
              <a:buNone/>
              <a:defRPr sz="1200">
                <a:solidFill>
                  <a:schemeClr val="accent2"/>
                </a:solidFill>
                <a:latin typeface="Arial"/>
                <a:ea typeface="Arial"/>
                <a:cs typeface="Arial"/>
                <a:sym typeface="Arial"/>
              </a:defRPr>
            </a:lvl4pPr>
            <a:lvl5pPr indent="0" lvl="4" marL="0" algn="r">
              <a:spcBef>
                <a:spcPts val="0"/>
              </a:spcBef>
              <a:buNone/>
              <a:defRPr sz="1200">
                <a:solidFill>
                  <a:schemeClr val="accent2"/>
                </a:solidFill>
                <a:latin typeface="Arial"/>
                <a:ea typeface="Arial"/>
                <a:cs typeface="Arial"/>
                <a:sym typeface="Arial"/>
              </a:defRPr>
            </a:lvl5pPr>
            <a:lvl6pPr indent="0" lvl="5" marL="0" algn="r">
              <a:spcBef>
                <a:spcPts val="0"/>
              </a:spcBef>
              <a:buNone/>
              <a:defRPr sz="1200">
                <a:solidFill>
                  <a:schemeClr val="accent2"/>
                </a:solidFill>
                <a:latin typeface="Arial"/>
                <a:ea typeface="Arial"/>
                <a:cs typeface="Arial"/>
                <a:sym typeface="Arial"/>
              </a:defRPr>
            </a:lvl6pPr>
            <a:lvl7pPr indent="0" lvl="6" marL="0" algn="r">
              <a:spcBef>
                <a:spcPts val="0"/>
              </a:spcBef>
              <a:buNone/>
              <a:defRPr sz="1200">
                <a:solidFill>
                  <a:schemeClr val="accent2"/>
                </a:solidFill>
                <a:latin typeface="Arial"/>
                <a:ea typeface="Arial"/>
                <a:cs typeface="Arial"/>
                <a:sym typeface="Arial"/>
              </a:defRPr>
            </a:lvl7pPr>
            <a:lvl8pPr indent="0" lvl="7" marL="0" algn="r">
              <a:spcBef>
                <a:spcPts val="0"/>
              </a:spcBef>
              <a:buNone/>
              <a:defRPr sz="1200">
                <a:solidFill>
                  <a:schemeClr val="accent2"/>
                </a:solidFill>
                <a:latin typeface="Arial"/>
                <a:ea typeface="Arial"/>
                <a:cs typeface="Arial"/>
                <a:sym typeface="Arial"/>
              </a:defRPr>
            </a:lvl8pPr>
            <a:lvl9pPr indent="0" lvl="8" marL="0" algn="r">
              <a:spcBef>
                <a:spcPts val="0"/>
              </a:spcBef>
              <a:buNone/>
              <a:defRPr sz="1200">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and Image 1">
  <p:cSld name="Title and Content and Image 1">
    <p:bg>
      <p:bgPr>
        <a:solidFill>
          <a:schemeClr val="accent2"/>
        </a:solidFill>
      </p:bgPr>
    </p:bg>
    <p:spTree>
      <p:nvGrpSpPr>
        <p:cNvPr id="64" name="Shape 64"/>
        <p:cNvGrpSpPr/>
        <p:nvPr/>
      </p:nvGrpSpPr>
      <p:grpSpPr>
        <a:xfrm>
          <a:off x="0" y="0"/>
          <a:ext cx="0" cy="0"/>
          <a:chOff x="0" y="0"/>
          <a:chExt cx="0" cy="0"/>
        </a:xfrm>
      </p:grpSpPr>
      <p:grpSp>
        <p:nvGrpSpPr>
          <p:cNvPr id="65" name="Google Shape;65;p6"/>
          <p:cNvGrpSpPr/>
          <p:nvPr/>
        </p:nvGrpSpPr>
        <p:grpSpPr>
          <a:xfrm>
            <a:off x="0" y="0"/>
            <a:ext cx="12208822" cy="6858002"/>
            <a:chOff x="0" y="0"/>
            <a:chExt cx="12208822" cy="6858002"/>
          </a:xfrm>
        </p:grpSpPr>
        <p:sp>
          <p:nvSpPr>
            <p:cNvPr id="66" name="Google Shape;66;p6"/>
            <p:cNvSpPr/>
            <p:nvPr/>
          </p:nvSpPr>
          <p:spPr>
            <a:xfrm>
              <a:off x="0" y="2286002"/>
              <a:ext cx="12208822" cy="4572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 name="Google Shape;67;p6"/>
            <p:cNvSpPr/>
            <p:nvPr/>
          </p:nvSpPr>
          <p:spPr>
            <a:xfrm flipH="1">
              <a:off x="8597718"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 name="Google Shape;68;p6"/>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69" name="Google Shape;69;p6"/>
          <p:cNvSpPr txBox="1"/>
          <p:nvPr>
            <p:ph type="title"/>
          </p:nvPr>
        </p:nvSpPr>
        <p:spPr>
          <a:xfrm>
            <a:off x="1167492" y="457200"/>
            <a:ext cx="10643508" cy="137160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4200"/>
              <a:buFont typeface="Arial"/>
              <a:buNone/>
              <a:defRPr b="1" sz="4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
          <p:cNvSpPr txBox="1"/>
          <p:nvPr>
            <p:ph idx="1" type="body"/>
          </p:nvPr>
        </p:nvSpPr>
        <p:spPr>
          <a:xfrm>
            <a:off x="1166088" y="2652713"/>
            <a:ext cx="5394959" cy="343693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Font typeface="Arial"/>
              <a:buNone/>
              <a:defRPr sz="2000">
                <a:solidFill>
                  <a:schemeClr val="lt1"/>
                </a:solidFill>
                <a:latin typeface="Arial"/>
                <a:ea typeface="Arial"/>
                <a:cs typeface="Arial"/>
                <a:sym typeface="Arial"/>
              </a:defRPr>
            </a:lvl1pPr>
            <a:lvl2pPr indent="-355600" lvl="1" marL="9144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2pPr>
            <a:lvl3pPr indent="-355600" lvl="2" marL="13716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3pPr>
            <a:lvl4pPr indent="-355600" lvl="3" marL="18288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4pPr>
            <a:lvl5pPr indent="-355600" lvl="4" marL="22860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
          <p:cNvSpPr/>
          <p:nvPr>
            <p:ph idx="2" type="pic"/>
          </p:nvPr>
        </p:nvSpPr>
        <p:spPr>
          <a:xfrm>
            <a:off x="7317920" y="1447800"/>
            <a:ext cx="4214010" cy="4214010"/>
          </a:xfrm>
          <a:prstGeom prst="ellipse">
            <a:avLst/>
          </a:prstGeom>
          <a:solidFill>
            <a:schemeClr val="accent2"/>
          </a:solidFill>
          <a:ln>
            <a:noFill/>
          </a:ln>
        </p:spPr>
      </p:sp>
      <p:sp>
        <p:nvSpPr>
          <p:cNvPr id="72" name="Google Shape;72;p6"/>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
          <p:cNvSpPr txBox="1"/>
          <p:nvPr>
            <p:ph idx="12" type="sldNum"/>
          </p:nvPr>
        </p:nvSpPr>
        <p:spPr>
          <a:xfrm>
            <a:off x="10206318" y="6356350"/>
            <a:ext cx="160468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accent3"/>
                </a:solidFill>
                <a:latin typeface="Arial"/>
                <a:ea typeface="Arial"/>
                <a:cs typeface="Arial"/>
                <a:sym typeface="Arial"/>
              </a:defRPr>
            </a:lvl1pPr>
            <a:lvl2pPr indent="0" lvl="1" marL="0" algn="r">
              <a:spcBef>
                <a:spcPts val="0"/>
              </a:spcBef>
              <a:buNone/>
              <a:defRPr sz="1200">
                <a:solidFill>
                  <a:schemeClr val="accent3"/>
                </a:solidFill>
                <a:latin typeface="Arial"/>
                <a:ea typeface="Arial"/>
                <a:cs typeface="Arial"/>
                <a:sym typeface="Arial"/>
              </a:defRPr>
            </a:lvl2pPr>
            <a:lvl3pPr indent="0" lvl="2" marL="0" algn="r">
              <a:spcBef>
                <a:spcPts val="0"/>
              </a:spcBef>
              <a:buNone/>
              <a:defRPr sz="1200">
                <a:solidFill>
                  <a:schemeClr val="accent3"/>
                </a:solidFill>
                <a:latin typeface="Arial"/>
                <a:ea typeface="Arial"/>
                <a:cs typeface="Arial"/>
                <a:sym typeface="Arial"/>
              </a:defRPr>
            </a:lvl3pPr>
            <a:lvl4pPr indent="0" lvl="3" marL="0" algn="r">
              <a:spcBef>
                <a:spcPts val="0"/>
              </a:spcBef>
              <a:buNone/>
              <a:defRPr sz="1200">
                <a:solidFill>
                  <a:schemeClr val="accent3"/>
                </a:solidFill>
                <a:latin typeface="Arial"/>
                <a:ea typeface="Arial"/>
                <a:cs typeface="Arial"/>
                <a:sym typeface="Arial"/>
              </a:defRPr>
            </a:lvl4pPr>
            <a:lvl5pPr indent="0" lvl="4" marL="0" algn="r">
              <a:spcBef>
                <a:spcPts val="0"/>
              </a:spcBef>
              <a:buNone/>
              <a:defRPr sz="1200">
                <a:solidFill>
                  <a:schemeClr val="accent3"/>
                </a:solidFill>
                <a:latin typeface="Arial"/>
                <a:ea typeface="Arial"/>
                <a:cs typeface="Arial"/>
                <a:sym typeface="Arial"/>
              </a:defRPr>
            </a:lvl5pPr>
            <a:lvl6pPr indent="0" lvl="5" marL="0" algn="r">
              <a:spcBef>
                <a:spcPts val="0"/>
              </a:spcBef>
              <a:buNone/>
              <a:defRPr sz="1200">
                <a:solidFill>
                  <a:schemeClr val="accent3"/>
                </a:solidFill>
                <a:latin typeface="Arial"/>
                <a:ea typeface="Arial"/>
                <a:cs typeface="Arial"/>
                <a:sym typeface="Arial"/>
              </a:defRPr>
            </a:lvl6pPr>
            <a:lvl7pPr indent="0" lvl="6" marL="0" algn="r">
              <a:spcBef>
                <a:spcPts val="0"/>
              </a:spcBef>
              <a:buNone/>
              <a:defRPr sz="1200">
                <a:solidFill>
                  <a:schemeClr val="accent3"/>
                </a:solidFill>
                <a:latin typeface="Arial"/>
                <a:ea typeface="Arial"/>
                <a:cs typeface="Arial"/>
                <a:sym typeface="Arial"/>
              </a:defRPr>
            </a:lvl7pPr>
            <a:lvl8pPr indent="0" lvl="7" marL="0" algn="r">
              <a:spcBef>
                <a:spcPts val="0"/>
              </a:spcBef>
              <a:buNone/>
              <a:defRPr sz="1200">
                <a:solidFill>
                  <a:schemeClr val="accent3"/>
                </a:solidFill>
                <a:latin typeface="Arial"/>
                <a:ea typeface="Arial"/>
                <a:cs typeface="Arial"/>
                <a:sym typeface="Arial"/>
              </a:defRPr>
            </a:lvl8pPr>
            <a:lvl9pPr indent="0" lvl="8" marL="0" algn="r">
              <a:spcBef>
                <a:spcPts val="0"/>
              </a:spcBef>
              <a:buNone/>
              <a:defRPr sz="1200">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type="title">
  <p:cSld name="TITLE">
    <p:spTree>
      <p:nvGrpSpPr>
        <p:cNvPr id="75" name="Shape 75"/>
        <p:cNvGrpSpPr/>
        <p:nvPr/>
      </p:nvGrpSpPr>
      <p:grpSpPr>
        <a:xfrm>
          <a:off x="0" y="0"/>
          <a:ext cx="0" cy="0"/>
          <a:chOff x="0" y="0"/>
          <a:chExt cx="0" cy="0"/>
        </a:xfrm>
      </p:grpSpPr>
      <p:grpSp>
        <p:nvGrpSpPr>
          <p:cNvPr id="76" name="Google Shape;76;p7"/>
          <p:cNvGrpSpPr/>
          <p:nvPr/>
        </p:nvGrpSpPr>
        <p:grpSpPr>
          <a:xfrm>
            <a:off x="0" y="-1"/>
            <a:ext cx="12192001" cy="6864796"/>
            <a:chOff x="0" y="-1"/>
            <a:chExt cx="12192001" cy="6864796"/>
          </a:xfrm>
        </p:grpSpPr>
        <p:sp>
          <p:nvSpPr>
            <p:cNvPr id="77" name="Google Shape;77;p7"/>
            <p:cNvSpPr/>
            <p:nvPr/>
          </p:nvSpPr>
          <p:spPr>
            <a:xfrm>
              <a:off x="8264426" y="0"/>
              <a:ext cx="3927574"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8" name="Google Shape;78;p7"/>
            <p:cNvGrpSpPr/>
            <p:nvPr/>
          </p:nvGrpSpPr>
          <p:grpSpPr>
            <a:xfrm>
              <a:off x="8264427" y="3685939"/>
              <a:ext cx="3927573" cy="3178856"/>
              <a:chOff x="9857014" y="13834"/>
              <a:chExt cx="2334986" cy="1881641"/>
            </a:xfrm>
          </p:grpSpPr>
          <p:sp>
            <p:nvSpPr>
              <p:cNvPr id="79" name="Google Shape;79;p7"/>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 name="Google Shape;80;p7"/>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81" name="Google Shape;81;p7"/>
            <p:cNvSpPr/>
            <p:nvPr/>
          </p:nvSpPr>
          <p:spPr>
            <a:xfrm>
              <a:off x="0" y="-1"/>
              <a:ext cx="1167493" cy="1167493"/>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 name="Google Shape;82;p7"/>
            <p:cNvSpPr/>
            <p:nvPr/>
          </p:nvSpPr>
          <p:spPr>
            <a:xfrm>
              <a:off x="10228214" y="-1"/>
              <a:ext cx="1963787" cy="3178856"/>
            </a:xfrm>
            <a:custGeom>
              <a:rect b="b" l="l" r="r" t="t"/>
              <a:pathLst>
                <a:path extrusionOk="0" h="3178856" w="1963787">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83" name="Google Shape;83;p7"/>
          <p:cNvSpPr txBox="1"/>
          <p:nvPr>
            <p:ph type="ctrTitle"/>
          </p:nvPr>
        </p:nvSpPr>
        <p:spPr>
          <a:xfrm>
            <a:off x="1167494" y="252549"/>
            <a:ext cx="6220278" cy="3262811"/>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6000"/>
              <a:buFont typeface="Arial"/>
              <a:buNone/>
              <a:defRPr b="1"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7"/>
          <p:cNvSpPr txBox="1"/>
          <p:nvPr>
            <p:ph idx="1" type="subTitle"/>
          </p:nvPr>
        </p:nvSpPr>
        <p:spPr>
          <a:xfrm>
            <a:off x="1167493" y="3685939"/>
            <a:ext cx="6220277" cy="291951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800"/>
              <a:buNone/>
              <a:defRPr sz="28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bg>
      <p:bgPr>
        <a:solidFill>
          <a:schemeClr val="accent2"/>
        </a:solidFill>
      </p:bgPr>
    </p:bg>
    <p:spTree>
      <p:nvGrpSpPr>
        <p:cNvPr id="85" name="Shape 85"/>
        <p:cNvGrpSpPr/>
        <p:nvPr/>
      </p:nvGrpSpPr>
      <p:grpSpPr>
        <a:xfrm>
          <a:off x="0" y="0"/>
          <a:ext cx="0" cy="0"/>
          <a:chOff x="0" y="0"/>
          <a:chExt cx="0" cy="0"/>
        </a:xfrm>
      </p:grpSpPr>
      <p:grpSp>
        <p:nvGrpSpPr>
          <p:cNvPr id="86" name="Google Shape;86;p8"/>
          <p:cNvGrpSpPr/>
          <p:nvPr/>
        </p:nvGrpSpPr>
        <p:grpSpPr>
          <a:xfrm>
            <a:off x="0" y="-1"/>
            <a:ext cx="12208822" cy="6858003"/>
            <a:chOff x="0" y="-1"/>
            <a:chExt cx="12208822" cy="6858003"/>
          </a:xfrm>
        </p:grpSpPr>
        <p:sp>
          <p:nvSpPr>
            <p:cNvPr id="87" name="Google Shape;87;p8"/>
            <p:cNvSpPr/>
            <p:nvPr/>
          </p:nvSpPr>
          <p:spPr>
            <a:xfrm>
              <a:off x="0" y="2286002"/>
              <a:ext cx="12208822" cy="4572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 name="Google Shape;88;p8"/>
            <p:cNvSpPr/>
            <p:nvPr/>
          </p:nvSpPr>
          <p:spPr>
            <a:xfrm flipH="1">
              <a:off x="8597718"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 name="Google Shape;89;p8"/>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 name="Google Shape;90;p8"/>
            <p:cNvSpPr/>
            <p:nvPr/>
          </p:nvSpPr>
          <p:spPr>
            <a:xfrm rot="-5400000">
              <a:off x="10344100" y="438098"/>
              <a:ext cx="2285999" cy="1409801"/>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91" name="Google Shape;91;p8"/>
          <p:cNvSpPr txBox="1"/>
          <p:nvPr>
            <p:ph type="title"/>
          </p:nvPr>
        </p:nvSpPr>
        <p:spPr>
          <a:xfrm>
            <a:off x="1167492" y="45085"/>
            <a:ext cx="9779183" cy="1600835"/>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4200"/>
              <a:buFont typeface="Arial"/>
              <a:buNone/>
              <a:defRPr b="1" sz="4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8"/>
          <p:cNvSpPr txBox="1"/>
          <p:nvPr>
            <p:ph idx="1" type="body"/>
          </p:nvPr>
        </p:nvSpPr>
        <p:spPr>
          <a:xfrm>
            <a:off x="1166087" y="2652713"/>
            <a:ext cx="9780587" cy="3436936"/>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1pPr>
            <a:lvl2pPr indent="-355600" lvl="1" marL="9144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2pPr>
            <a:lvl3pPr indent="-355600" lvl="2" marL="13716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3pPr>
            <a:lvl4pPr indent="-355600" lvl="3" marL="18288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4pPr>
            <a:lvl5pPr indent="-355600" lvl="4" marL="2286000" algn="l">
              <a:lnSpc>
                <a:spcPct val="90000"/>
              </a:lnSpc>
              <a:spcBef>
                <a:spcPts val="1000"/>
              </a:spcBef>
              <a:spcAft>
                <a:spcPts val="0"/>
              </a:spcAft>
              <a:buClr>
                <a:schemeClr val="lt1"/>
              </a:buClr>
              <a:buSzPts val="2000"/>
              <a:buFont typeface="Arial"/>
              <a:buChar char="•"/>
              <a:defRPr sz="20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8"/>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8"/>
          <p:cNvSpPr txBox="1"/>
          <p:nvPr>
            <p:ph idx="12" type="sldNum"/>
          </p:nvPr>
        </p:nvSpPr>
        <p:spPr>
          <a:xfrm>
            <a:off x="10206318" y="6356350"/>
            <a:ext cx="160468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accent3"/>
                </a:solidFill>
                <a:latin typeface="Arial"/>
                <a:ea typeface="Arial"/>
                <a:cs typeface="Arial"/>
                <a:sym typeface="Arial"/>
              </a:defRPr>
            </a:lvl1pPr>
            <a:lvl2pPr indent="0" lvl="1" marL="0" algn="r">
              <a:spcBef>
                <a:spcPts val="0"/>
              </a:spcBef>
              <a:buNone/>
              <a:defRPr sz="1200">
                <a:solidFill>
                  <a:schemeClr val="accent3"/>
                </a:solidFill>
                <a:latin typeface="Arial"/>
                <a:ea typeface="Arial"/>
                <a:cs typeface="Arial"/>
                <a:sym typeface="Arial"/>
              </a:defRPr>
            </a:lvl2pPr>
            <a:lvl3pPr indent="0" lvl="2" marL="0" algn="r">
              <a:spcBef>
                <a:spcPts val="0"/>
              </a:spcBef>
              <a:buNone/>
              <a:defRPr sz="1200">
                <a:solidFill>
                  <a:schemeClr val="accent3"/>
                </a:solidFill>
                <a:latin typeface="Arial"/>
                <a:ea typeface="Arial"/>
                <a:cs typeface="Arial"/>
                <a:sym typeface="Arial"/>
              </a:defRPr>
            </a:lvl3pPr>
            <a:lvl4pPr indent="0" lvl="3" marL="0" algn="r">
              <a:spcBef>
                <a:spcPts val="0"/>
              </a:spcBef>
              <a:buNone/>
              <a:defRPr sz="1200">
                <a:solidFill>
                  <a:schemeClr val="accent3"/>
                </a:solidFill>
                <a:latin typeface="Arial"/>
                <a:ea typeface="Arial"/>
                <a:cs typeface="Arial"/>
                <a:sym typeface="Arial"/>
              </a:defRPr>
            </a:lvl4pPr>
            <a:lvl5pPr indent="0" lvl="4" marL="0" algn="r">
              <a:spcBef>
                <a:spcPts val="0"/>
              </a:spcBef>
              <a:buNone/>
              <a:defRPr sz="1200">
                <a:solidFill>
                  <a:schemeClr val="accent3"/>
                </a:solidFill>
                <a:latin typeface="Arial"/>
                <a:ea typeface="Arial"/>
                <a:cs typeface="Arial"/>
                <a:sym typeface="Arial"/>
              </a:defRPr>
            </a:lvl5pPr>
            <a:lvl6pPr indent="0" lvl="5" marL="0" algn="r">
              <a:spcBef>
                <a:spcPts val="0"/>
              </a:spcBef>
              <a:buNone/>
              <a:defRPr sz="1200">
                <a:solidFill>
                  <a:schemeClr val="accent3"/>
                </a:solidFill>
                <a:latin typeface="Arial"/>
                <a:ea typeface="Arial"/>
                <a:cs typeface="Arial"/>
                <a:sym typeface="Arial"/>
              </a:defRPr>
            </a:lvl6pPr>
            <a:lvl7pPr indent="0" lvl="6" marL="0" algn="r">
              <a:spcBef>
                <a:spcPts val="0"/>
              </a:spcBef>
              <a:buNone/>
              <a:defRPr sz="1200">
                <a:solidFill>
                  <a:schemeClr val="accent3"/>
                </a:solidFill>
                <a:latin typeface="Arial"/>
                <a:ea typeface="Arial"/>
                <a:cs typeface="Arial"/>
                <a:sym typeface="Arial"/>
              </a:defRPr>
            </a:lvl7pPr>
            <a:lvl8pPr indent="0" lvl="7" marL="0" algn="r">
              <a:spcBef>
                <a:spcPts val="0"/>
              </a:spcBef>
              <a:buNone/>
              <a:defRPr sz="1200">
                <a:solidFill>
                  <a:schemeClr val="accent3"/>
                </a:solidFill>
                <a:latin typeface="Arial"/>
                <a:ea typeface="Arial"/>
                <a:cs typeface="Arial"/>
                <a:sym typeface="Arial"/>
              </a:defRPr>
            </a:lvl8pPr>
            <a:lvl9pPr indent="0" lvl="8" marL="0" algn="r">
              <a:spcBef>
                <a:spcPts val="0"/>
              </a:spcBef>
              <a:buNone/>
              <a:defRPr sz="1200">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96" name="Shape 96"/>
        <p:cNvGrpSpPr/>
        <p:nvPr/>
      </p:nvGrpSpPr>
      <p:grpSpPr>
        <a:xfrm>
          <a:off x="0" y="0"/>
          <a:ext cx="0" cy="0"/>
          <a:chOff x="0" y="0"/>
          <a:chExt cx="0" cy="0"/>
        </a:xfrm>
      </p:grpSpPr>
      <p:grpSp>
        <p:nvGrpSpPr>
          <p:cNvPr id="97" name="Google Shape;97;p9"/>
          <p:cNvGrpSpPr/>
          <p:nvPr/>
        </p:nvGrpSpPr>
        <p:grpSpPr>
          <a:xfrm>
            <a:off x="0" y="0"/>
            <a:ext cx="12192000" cy="6858000"/>
            <a:chOff x="0" y="0"/>
            <a:chExt cx="12192000" cy="6858000"/>
          </a:xfrm>
        </p:grpSpPr>
        <p:sp>
          <p:nvSpPr>
            <p:cNvPr id="98" name="Google Shape;98;p9"/>
            <p:cNvSpPr/>
            <p:nvPr/>
          </p:nvSpPr>
          <p:spPr>
            <a:xfrm>
              <a:off x="0" y="0"/>
              <a:ext cx="8025490" cy="6858000"/>
            </a:xfrm>
            <a:custGeom>
              <a:rect b="b" l="l" r="r" t="t"/>
              <a:pathLst>
                <a:path extrusionOk="0" h="6858000" w="802549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99" name="Google Shape;99;p9"/>
            <p:cNvGrpSpPr/>
            <p:nvPr/>
          </p:nvGrpSpPr>
          <p:grpSpPr>
            <a:xfrm rot="-5400000">
              <a:off x="8286528" y="2207195"/>
              <a:ext cx="3032351" cy="2443610"/>
              <a:chOff x="9857014" y="13834"/>
              <a:chExt cx="2334986" cy="1881641"/>
            </a:xfrm>
          </p:grpSpPr>
          <p:sp>
            <p:nvSpPr>
              <p:cNvPr id="100" name="Google Shape;100;p9"/>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 name="Google Shape;101;p9"/>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02" name="Google Shape;102;p9"/>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9"/>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04" name="Google Shape;104;p9"/>
          <p:cNvSpPr txBox="1"/>
          <p:nvPr>
            <p:ph type="ctrTitle"/>
          </p:nvPr>
        </p:nvSpPr>
        <p:spPr>
          <a:xfrm>
            <a:off x="1167494" y="177553"/>
            <a:ext cx="6245912" cy="3269447"/>
          </a:xfrm>
          <a:prstGeom prst="rect">
            <a:avLst/>
          </a:prstGeom>
          <a:noFill/>
          <a:ln>
            <a:noFill/>
          </a:ln>
        </p:spPr>
        <p:txBody>
          <a:bodyPr anchorCtr="0" anchor="b" bIns="0" lIns="91425" spcFirstLastPara="1" rIns="91425" wrap="square" tIns="45700">
            <a:noAutofit/>
          </a:bodyPr>
          <a:lstStyle>
            <a:lvl1pPr lvl="0" algn="l">
              <a:lnSpc>
                <a:spcPct val="80000"/>
              </a:lnSpc>
              <a:spcBef>
                <a:spcPts val="0"/>
              </a:spcBef>
              <a:spcAft>
                <a:spcPts val="0"/>
              </a:spcAft>
              <a:buClr>
                <a:schemeClr val="lt1"/>
              </a:buClr>
              <a:buSzPts val="6000"/>
              <a:buFont typeface="Arial"/>
              <a:buNone/>
              <a:defRPr b="1" sz="60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9"/>
          <p:cNvSpPr txBox="1"/>
          <p:nvPr>
            <p:ph idx="1" type="subTitle"/>
          </p:nvPr>
        </p:nvSpPr>
        <p:spPr>
          <a:xfrm>
            <a:off x="1167494" y="3492896"/>
            <a:ext cx="6245912" cy="9128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100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 Content">
  <p:cSld name="Title and 2 Column Content">
    <p:spTree>
      <p:nvGrpSpPr>
        <p:cNvPr id="106" name="Shape 106"/>
        <p:cNvGrpSpPr/>
        <p:nvPr/>
      </p:nvGrpSpPr>
      <p:grpSpPr>
        <a:xfrm>
          <a:off x="0" y="0"/>
          <a:ext cx="0" cy="0"/>
          <a:chOff x="0" y="0"/>
          <a:chExt cx="0" cy="0"/>
        </a:xfrm>
      </p:grpSpPr>
      <p:grpSp>
        <p:nvGrpSpPr>
          <p:cNvPr id="107" name="Google Shape;107;p10"/>
          <p:cNvGrpSpPr/>
          <p:nvPr/>
        </p:nvGrpSpPr>
        <p:grpSpPr>
          <a:xfrm>
            <a:off x="1" y="0"/>
            <a:ext cx="12191999" cy="6858000"/>
            <a:chOff x="1" y="0"/>
            <a:chExt cx="12191999" cy="6858000"/>
          </a:xfrm>
        </p:grpSpPr>
        <p:sp>
          <p:nvSpPr>
            <p:cNvPr id="108" name="Google Shape;108;p10"/>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 name="Google Shape;109;p10"/>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10"/>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11" name="Google Shape;111;p10"/>
            <p:cNvGrpSpPr/>
            <p:nvPr/>
          </p:nvGrpSpPr>
          <p:grpSpPr>
            <a:xfrm>
              <a:off x="8082092" y="5590903"/>
              <a:ext cx="1572380" cy="1267097"/>
              <a:chOff x="7413403" y="4976359"/>
              <a:chExt cx="2334986" cy="1881641"/>
            </a:xfrm>
          </p:grpSpPr>
          <p:sp>
            <p:nvSpPr>
              <p:cNvPr id="112" name="Google Shape;112;p10"/>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 name="Google Shape;113;p10"/>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sp>
        <p:nvSpPr>
          <p:cNvPr id="114" name="Google Shape;114;p10"/>
          <p:cNvSpPr txBox="1"/>
          <p:nvPr>
            <p:ph type="title"/>
          </p:nvPr>
        </p:nvSpPr>
        <p:spPr>
          <a:xfrm>
            <a:off x="1167492" y="136526"/>
            <a:ext cx="9601200" cy="1653371"/>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4200"/>
              <a:buFont typeface="Arial"/>
              <a:buNone/>
              <a:defRPr b="1" sz="4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0"/>
          <p:cNvSpPr txBox="1"/>
          <p:nvPr>
            <p:ph idx="1" type="body"/>
          </p:nvPr>
        </p:nvSpPr>
        <p:spPr>
          <a:xfrm>
            <a:off x="1167493" y="2023984"/>
            <a:ext cx="4663440" cy="33328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Font typeface="Arial"/>
              <a:buNone/>
              <a:defRPr sz="2000">
                <a:latin typeface="Arial"/>
                <a:ea typeface="Arial"/>
                <a:cs typeface="Arial"/>
                <a:sym typeface="Arial"/>
              </a:defRPr>
            </a:lvl1pPr>
            <a:lvl2pPr indent="-355600" lvl="1" marL="9144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2pPr>
            <a:lvl3pPr indent="-355600" lvl="2" marL="13716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3pPr>
            <a:lvl4pPr indent="-355600" lvl="3" marL="18288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4pPr>
            <a:lvl5pPr indent="-355600" lvl="4" marL="22860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0"/>
          <p:cNvSpPr txBox="1"/>
          <p:nvPr>
            <p:ph idx="2" type="body"/>
          </p:nvPr>
        </p:nvSpPr>
        <p:spPr>
          <a:xfrm>
            <a:off x="6283235" y="2023984"/>
            <a:ext cx="4663440" cy="33328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Font typeface="Arial"/>
              <a:buNone/>
              <a:defRPr sz="2000">
                <a:latin typeface="Arial"/>
                <a:ea typeface="Arial"/>
                <a:cs typeface="Arial"/>
                <a:sym typeface="Arial"/>
              </a:defRPr>
            </a:lvl1pPr>
            <a:lvl2pPr indent="-355600" lvl="1" marL="9144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2pPr>
            <a:lvl3pPr indent="-355600" lvl="2" marL="13716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3pPr>
            <a:lvl4pPr indent="-355600" lvl="3" marL="18288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4pPr>
            <a:lvl5pPr indent="-355600" lvl="4" marL="2286000" algn="l">
              <a:lnSpc>
                <a:spcPct val="90000"/>
              </a:lnSpc>
              <a:spcBef>
                <a:spcPts val="1000"/>
              </a:spcBef>
              <a:spcAft>
                <a:spcPts val="0"/>
              </a:spcAft>
              <a:buClr>
                <a:schemeClr val="dk1"/>
              </a:buClr>
              <a:buSzPts val="2000"/>
              <a:buFont typeface="Arial"/>
              <a:buChar char="•"/>
              <a:defRPr sz="2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0"/>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0"/>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accent2"/>
                </a:solidFill>
                <a:latin typeface="Arial"/>
                <a:ea typeface="Arial"/>
                <a:cs typeface="Arial"/>
                <a:sym typeface="Arial"/>
              </a:defRPr>
            </a:lvl1pPr>
            <a:lvl2pPr indent="0" lvl="1" marL="0" algn="r">
              <a:spcBef>
                <a:spcPts val="0"/>
              </a:spcBef>
              <a:buNone/>
              <a:defRPr sz="1200">
                <a:solidFill>
                  <a:schemeClr val="accent2"/>
                </a:solidFill>
                <a:latin typeface="Arial"/>
                <a:ea typeface="Arial"/>
                <a:cs typeface="Arial"/>
                <a:sym typeface="Arial"/>
              </a:defRPr>
            </a:lvl2pPr>
            <a:lvl3pPr indent="0" lvl="2" marL="0" algn="r">
              <a:spcBef>
                <a:spcPts val="0"/>
              </a:spcBef>
              <a:buNone/>
              <a:defRPr sz="1200">
                <a:solidFill>
                  <a:schemeClr val="accent2"/>
                </a:solidFill>
                <a:latin typeface="Arial"/>
                <a:ea typeface="Arial"/>
                <a:cs typeface="Arial"/>
                <a:sym typeface="Arial"/>
              </a:defRPr>
            </a:lvl3pPr>
            <a:lvl4pPr indent="0" lvl="3" marL="0" algn="r">
              <a:spcBef>
                <a:spcPts val="0"/>
              </a:spcBef>
              <a:buNone/>
              <a:defRPr sz="1200">
                <a:solidFill>
                  <a:schemeClr val="accent2"/>
                </a:solidFill>
                <a:latin typeface="Arial"/>
                <a:ea typeface="Arial"/>
                <a:cs typeface="Arial"/>
                <a:sym typeface="Arial"/>
              </a:defRPr>
            </a:lvl4pPr>
            <a:lvl5pPr indent="0" lvl="4" marL="0" algn="r">
              <a:spcBef>
                <a:spcPts val="0"/>
              </a:spcBef>
              <a:buNone/>
              <a:defRPr sz="1200">
                <a:solidFill>
                  <a:schemeClr val="accent2"/>
                </a:solidFill>
                <a:latin typeface="Arial"/>
                <a:ea typeface="Arial"/>
                <a:cs typeface="Arial"/>
                <a:sym typeface="Arial"/>
              </a:defRPr>
            </a:lvl5pPr>
            <a:lvl6pPr indent="0" lvl="5" marL="0" algn="r">
              <a:spcBef>
                <a:spcPts val="0"/>
              </a:spcBef>
              <a:buNone/>
              <a:defRPr sz="1200">
                <a:solidFill>
                  <a:schemeClr val="accent2"/>
                </a:solidFill>
                <a:latin typeface="Arial"/>
                <a:ea typeface="Arial"/>
                <a:cs typeface="Arial"/>
                <a:sym typeface="Arial"/>
              </a:defRPr>
            </a:lvl6pPr>
            <a:lvl7pPr indent="0" lvl="6" marL="0" algn="r">
              <a:spcBef>
                <a:spcPts val="0"/>
              </a:spcBef>
              <a:buNone/>
              <a:defRPr sz="1200">
                <a:solidFill>
                  <a:schemeClr val="accent2"/>
                </a:solidFill>
                <a:latin typeface="Arial"/>
                <a:ea typeface="Arial"/>
                <a:cs typeface="Arial"/>
                <a:sym typeface="Arial"/>
              </a:defRPr>
            </a:lvl7pPr>
            <a:lvl8pPr indent="0" lvl="7" marL="0" algn="r">
              <a:spcBef>
                <a:spcPts val="0"/>
              </a:spcBef>
              <a:buNone/>
              <a:defRPr sz="1200">
                <a:solidFill>
                  <a:schemeClr val="accent2"/>
                </a:solidFill>
                <a:latin typeface="Arial"/>
                <a:ea typeface="Arial"/>
                <a:cs typeface="Arial"/>
                <a:sym typeface="Arial"/>
              </a:defRPr>
            </a:lvl8pPr>
            <a:lvl9pPr indent="0" lvl="8" marL="0" algn="r">
              <a:spcBef>
                <a:spcPts val="0"/>
              </a:spcBef>
              <a:buNone/>
              <a:defRPr sz="1200">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
  <p:cSld name="Chart ">
    <p:bg>
      <p:bgPr>
        <a:solidFill>
          <a:schemeClr val="accent2"/>
        </a:solidFill>
      </p:bgPr>
    </p:bg>
    <p:spTree>
      <p:nvGrpSpPr>
        <p:cNvPr id="120" name="Shape 120"/>
        <p:cNvGrpSpPr/>
        <p:nvPr/>
      </p:nvGrpSpPr>
      <p:grpSpPr>
        <a:xfrm>
          <a:off x="0" y="0"/>
          <a:ext cx="0" cy="0"/>
          <a:chOff x="0" y="0"/>
          <a:chExt cx="0" cy="0"/>
        </a:xfrm>
      </p:grpSpPr>
      <p:grpSp>
        <p:nvGrpSpPr>
          <p:cNvPr id="121" name="Google Shape;121;p11"/>
          <p:cNvGrpSpPr/>
          <p:nvPr/>
        </p:nvGrpSpPr>
        <p:grpSpPr>
          <a:xfrm rot="-5400000">
            <a:off x="10772262" y="152641"/>
            <a:ext cx="1572380" cy="1267097"/>
            <a:chOff x="7413403" y="4976359"/>
            <a:chExt cx="2334986" cy="1881641"/>
          </a:xfrm>
        </p:grpSpPr>
        <p:sp>
          <p:nvSpPr>
            <p:cNvPr id="122" name="Google Shape;122;p11"/>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11"/>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24" name="Google Shape;124;p11"/>
          <p:cNvSpPr txBox="1"/>
          <p:nvPr>
            <p:ph type="title"/>
          </p:nvPr>
        </p:nvSpPr>
        <p:spPr>
          <a:xfrm>
            <a:off x="1167492" y="136526"/>
            <a:ext cx="9779183" cy="1570038"/>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1"/>
              </a:buClr>
              <a:buSzPts val="4200"/>
              <a:buFont typeface="Arial"/>
              <a:buNone/>
              <a:defRPr b="1" sz="4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1"/>
          <p:cNvSpPr txBox="1"/>
          <p:nvPr>
            <p:ph idx="1" type="body"/>
          </p:nvPr>
        </p:nvSpPr>
        <p:spPr>
          <a:xfrm>
            <a:off x="1167493" y="2084832"/>
            <a:ext cx="9779182" cy="3366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1"/>
          <p:cNvSpPr txBox="1"/>
          <p:nvPr>
            <p:ph idx="10" type="dt"/>
          </p:nvPr>
        </p:nvSpPr>
        <p:spPr>
          <a:xfrm>
            <a:off x="381000" y="6356350"/>
            <a:ext cx="170101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1"/>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accent3"/>
                </a:solidFill>
                <a:latin typeface="Arial"/>
                <a:ea typeface="Arial"/>
                <a:cs typeface="Arial"/>
                <a:sym typeface="Arial"/>
              </a:defRPr>
            </a:lvl1pPr>
            <a:lvl2pPr indent="0" lvl="1" marL="0" algn="r">
              <a:spcBef>
                <a:spcPts val="0"/>
              </a:spcBef>
              <a:buNone/>
              <a:defRPr sz="1200">
                <a:solidFill>
                  <a:schemeClr val="accent3"/>
                </a:solidFill>
                <a:latin typeface="Arial"/>
                <a:ea typeface="Arial"/>
                <a:cs typeface="Arial"/>
                <a:sym typeface="Arial"/>
              </a:defRPr>
            </a:lvl2pPr>
            <a:lvl3pPr indent="0" lvl="2" marL="0" algn="r">
              <a:spcBef>
                <a:spcPts val="0"/>
              </a:spcBef>
              <a:buNone/>
              <a:defRPr sz="1200">
                <a:solidFill>
                  <a:schemeClr val="accent3"/>
                </a:solidFill>
                <a:latin typeface="Arial"/>
                <a:ea typeface="Arial"/>
                <a:cs typeface="Arial"/>
                <a:sym typeface="Arial"/>
              </a:defRPr>
            </a:lvl3pPr>
            <a:lvl4pPr indent="0" lvl="3" marL="0" algn="r">
              <a:spcBef>
                <a:spcPts val="0"/>
              </a:spcBef>
              <a:buNone/>
              <a:defRPr sz="1200">
                <a:solidFill>
                  <a:schemeClr val="accent3"/>
                </a:solidFill>
                <a:latin typeface="Arial"/>
                <a:ea typeface="Arial"/>
                <a:cs typeface="Arial"/>
                <a:sym typeface="Arial"/>
              </a:defRPr>
            </a:lvl4pPr>
            <a:lvl5pPr indent="0" lvl="4" marL="0" algn="r">
              <a:spcBef>
                <a:spcPts val="0"/>
              </a:spcBef>
              <a:buNone/>
              <a:defRPr sz="1200">
                <a:solidFill>
                  <a:schemeClr val="accent3"/>
                </a:solidFill>
                <a:latin typeface="Arial"/>
                <a:ea typeface="Arial"/>
                <a:cs typeface="Arial"/>
                <a:sym typeface="Arial"/>
              </a:defRPr>
            </a:lvl5pPr>
            <a:lvl6pPr indent="0" lvl="5" marL="0" algn="r">
              <a:spcBef>
                <a:spcPts val="0"/>
              </a:spcBef>
              <a:buNone/>
              <a:defRPr sz="1200">
                <a:solidFill>
                  <a:schemeClr val="accent3"/>
                </a:solidFill>
                <a:latin typeface="Arial"/>
                <a:ea typeface="Arial"/>
                <a:cs typeface="Arial"/>
                <a:sym typeface="Arial"/>
              </a:defRPr>
            </a:lvl6pPr>
            <a:lvl7pPr indent="0" lvl="6" marL="0" algn="r">
              <a:spcBef>
                <a:spcPts val="0"/>
              </a:spcBef>
              <a:buNone/>
              <a:defRPr sz="1200">
                <a:solidFill>
                  <a:schemeClr val="accent3"/>
                </a:solidFill>
                <a:latin typeface="Arial"/>
                <a:ea typeface="Arial"/>
                <a:cs typeface="Arial"/>
                <a:sym typeface="Arial"/>
              </a:defRPr>
            </a:lvl7pPr>
            <a:lvl8pPr indent="0" lvl="7" marL="0" algn="r">
              <a:spcBef>
                <a:spcPts val="0"/>
              </a:spcBef>
              <a:buNone/>
              <a:defRPr sz="1200">
                <a:solidFill>
                  <a:schemeClr val="accent3"/>
                </a:solidFill>
                <a:latin typeface="Arial"/>
                <a:ea typeface="Arial"/>
                <a:cs typeface="Arial"/>
                <a:sym typeface="Arial"/>
              </a:defRPr>
            </a:lvl8pPr>
            <a:lvl9pPr indent="0" lvl="8" marL="0" algn="r">
              <a:spcBef>
                <a:spcPts val="0"/>
              </a:spcBef>
              <a:buNone/>
              <a:defRPr sz="1200">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81000" y="381000"/>
            <a:ext cx="11430000" cy="1325563"/>
          </a:xfrm>
          <a:prstGeom prst="rect">
            <a:avLst/>
          </a:prstGeom>
          <a:noFill/>
          <a:ln>
            <a:noFill/>
          </a:ln>
        </p:spPr>
        <p:txBody>
          <a:bodyPr anchorCtr="0" anchor="ctr" bIns="45700" lIns="91425" spcFirstLastPara="1" rIns="91425" wrap="square" tIns="45700">
            <a:noAutofit/>
          </a:bodyPr>
          <a:lstStyle>
            <a:lvl1pPr lvl="0" marR="0" rtl="0" algn="l">
              <a:lnSpc>
                <a:spcPct val="8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81000" y="1825625"/>
            <a:ext cx="114300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Arial"/>
                <a:ea typeface="Arial"/>
                <a:cs typeface="Arial"/>
                <a:sym typeface="Arial"/>
              </a:defRPr>
            </a:lvl1pPr>
            <a:lvl2pPr indent="0" lvl="1" marL="0" marR="0" rtl="0" algn="r">
              <a:spcBef>
                <a:spcPts val="0"/>
              </a:spcBef>
              <a:buNone/>
              <a:defRPr b="0" i="0" sz="1200" u="none" cap="none" strike="noStrike">
                <a:solidFill>
                  <a:schemeClr val="dk2"/>
                </a:solidFill>
                <a:latin typeface="Arial"/>
                <a:ea typeface="Arial"/>
                <a:cs typeface="Arial"/>
                <a:sym typeface="Arial"/>
              </a:defRPr>
            </a:lvl2pPr>
            <a:lvl3pPr indent="0" lvl="2" marL="0" marR="0" rtl="0" algn="r">
              <a:spcBef>
                <a:spcPts val="0"/>
              </a:spcBef>
              <a:buNone/>
              <a:defRPr b="0" i="0" sz="1200" u="none" cap="none" strike="noStrike">
                <a:solidFill>
                  <a:schemeClr val="dk2"/>
                </a:solidFill>
                <a:latin typeface="Arial"/>
                <a:ea typeface="Arial"/>
                <a:cs typeface="Arial"/>
                <a:sym typeface="Arial"/>
              </a:defRPr>
            </a:lvl3pPr>
            <a:lvl4pPr indent="0" lvl="3" marL="0" marR="0" rtl="0" algn="r">
              <a:spcBef>
                <a:spcPts val="0"/>
              </a:spcBef>
              <a:buNone/>
              <a:defRPr b="0" i="0" sz="1200" u="none" cap="none" strike="noStrike">
                <a:solidFill>
                  <a:schemeClr val="dk2"/>
                </a:solidFill>
                <a:latin typeface="Arial"/>
                <a:ea typeface="Arial"/>
                <a:cs typeface="Arial"/>
                <a:sym typeface="Arial"/>
              </a:defRPr>
            </a:lvl4pPr>
            <a:lvl5pPr indent="0" lvl="4" marL="0" marR="0" rtl="0" algn="r">
              <a:spcBef>
                <a:spcPts val="0"/>
              </a:spcBef>
              <a:buNone/>
              <a:defRPr b="0" i="0" sz="1200" u="none" cap="none" strike="noStrike">
                <a:solidFill>
                  <a:schemeClr val="dk2"/>
                </a:solidFill>
                <a:latin typeface="Arial"/>
                <a:ea typeface="Arial"/>
                <a:cs typeface="Arial"/>
                <a:sym typeface="Arial"/>
              </a:defRPr>
            </a:lvl5pPr>
            <a:lvl6pPr indent="0" lvl="5" marL="0" marR="0" rtl="0" algn="r">
              <a:spcBef>
                <a:spcPts val="0"/>
              </a:spcBef>
              <a:buNone/>
              <a:defRPr b="0" i="0" sz="1200" u="none" cap="none" strike="noStrike">
                <a:solidFill>
                  <a:schemeClr val="dk2"/>
                </a:solidFill>
                <a:latin typeface="Arial"/>
                <a:ea typeface="Arial"/>
                <a:cs typeface="Arial"/>
                <a:sym typeface="Arial"/>
              </a:defRPr>
            </a:lvl6pPr>
            <a:lvl7pPr indent="0" lvl="6" marL="0" marR="0" rtl="0" algn="r">
              <a:spcBef>
                <a:spcPts val="0"/>
              </a:spcBef>
              <a:buNone/>
              <a:defRPr b="0" i="0" sz="1200" u="none" cap="none" strike="noStrike">
                <a:solidFill>
                  <a:schemeClr val="dk2"/>
                </a:solidFill>
                <a:latin typeface="Arial"/>
                <a:ea typeface="Arial"/>
                <a:cs typeface="Arial"/>
                <a:sym typeface="Arial"/>
              </a:defRPr>
            </a:lvl7pPr>
            <a:lvl8pPr indent="0" lvl="7" marL="0" marR="0" rtl="0" algn="r">
              <a:spcBef>
                <a:spcPts val="0"/>
              </a:spcBef>
              <a:buNone/>
              <a:defRPr b="0" i="0" sz="1200" u="none" cap="none" strike="noStrike">
                <a:solidFill>
                  <a:schemeClr val="dk2"/>
                </a:solidFill>
                <a:latin typeface="Arial"/>
                <a:ea typeface="Arial"/>
                <a:cs typeface="Arial"/>
                <a:sym typeface="Arial"/>
              </a:defRPr>
            </a:lvl8pPr>
            <a:lvl9pPr indent="0" lvl="8" marL="0" marR="0" rtl="0" algn="r">
              <a:spcBef>
                <a:spcPts val="0"/>
              </a:spcBef>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jpg"/><Relationship Id="rId4"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2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jpg"/><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jpg"/><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2"/>
          <p:cNvSpPr/>
          <p:nvPr/>
        </p:nvSpPr>
        <p:spPr>
          <a:xfrm>
            <a:off x="0" y="6337500"/>
            <a:ext cx="2300400" cy="520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FF0000"/>
                </a:solidFill>
                <a:latin typeface="Arial"/>
                <a:ea typeface="Arial"/>
                <a:cs typeface="Arial"/>
                <a:sym typeface="Arial"/>
              </a:rPr>
              <a:t>Mentor:</a:t>
            </a:r>
            <a:r>
              <a:rPr b="1" i="0" lang="en-US" sz="1800" u="none" cap="none" strike="noStrike">
                <a:solidFill>
                  <a:schemeClr val="dk1"/>
                </a:solidFill>
                <a:latin typeface="Arial"/>
                <a:ea typeface="Arial"/>
                <a:cs typeface="Arial"/>
                <a:sym typeface="Arial"/>
              </a:rPr>
              <a:t> </a:t>
            </a:r>
            <a:r>
              <a:rPr b="1" i="0" lang="en-US" sz="1800" u="none" cap="none" strike="noStrike">
                <a:solidFill>
                  <a:srgbClr val="0C0C0C"/>
                </a:solidFill>
                <a:latin typeface="Arial"/>
                <a:ea typeface="Arial"/>
                <a:cs typeface="Arial"/>
                <a:sym typeface="Arial"/>
              </a:rPr>
              <a:t>Sravani</a:t>
            </a:r>
            <a:endParaRPr/>
          </a:p>
        </p:txBody>
      </p:sp>
      <p:pic>
        <p:nvPicPr>
          <p:cNvPr id="134" name="Google Shape;134;p12" title="title.jpeg"/>
          <p:cNvPicPr preferRelativeResize="0"/>
          <p:nvPr/>
        </p:nvPicPr>
        <p:blipFill>
          <a:blip r:embed="rId3">
            <a:alphaModFix/>
          </a:blip>
          <a:stretch>
            <a:fillRect/>
          </a:stretch>
        </p:blipFill>
        <p:spPr>
          <a:xfrm>
            <a:off x="0" y="33279"/>
            <a:ext cx="12192000" cy="8128018"/>
          </a:xfrm>
          <a:prstGeom prst="rect">
            <a:avLst/>
          </a:prstGeom>
          <a:noFill/>
          <a:ln>
            <a:noFill/>
          </a:ln>
        </p:spPr>
      </p:pic>
      <p:sp>
        <p:nvSpPr>
          <p:cNvPr id="135" name="Google Shape;135;p12"/>
          <p:cNvSpPr/>
          <p:nvPr/>
        </p:nvSpPr>
        <p:spPr>
          <a:xfrm>
            <a:off x="5731425" y="4696800"/>
            <a:ext cx="6079500" cy="854100"/>
          </a:xfrm>
          <a:prstGeom prst="rect">
            <a:avLst/>
          </a:prstGeom>
          <a:solidFill>
            <a:srgbClr val="005DC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2"/>
          <p:cNvSpPr txBox="1"/>
          <p:nvPr/>
        </p:nvSpPr>
        <p:spPr>
          <a:xfrm>
            <a:off x="5453925" y="4924200"/>
            <a:ext cx="6634500" cy="7719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B050"/>
              </a:buClr>
              <a:buSzPts val="3600"/>
              <a:buFont typeface="Arial"/>
              <a:buNone/>
            </a:pPr>
            <a:r>
              <a:rPr b="1" lang="en-US" sz="3600">
                <a:solidFill>
                  <a:schemeClr val="accent2"/>
                </a:solidFill>
              </a:rPr>
              <a:t>NITIN EXPENSES ANALYSIS</a:t>
            </a:r>
            <a:endParaRPr b="1" sz="4200">
              <a:solidFill>
                <a:schemeClr val="accent2"/>
              </a:solidFill>
            </a:endParaRPr>
          </a:p>
          <a:p>
            <a:pPr indent="0" lvl="0" marL="0" rtl="0" algn="l">
              <a:spcBef>
                <a:spcPts val="0"/>
              </a:spcBef>
              <a:spcAft>
                <a:spcPts val="0"/>
              </a:spcAft>
              <a:buNone/>
            </a:pPr>
            <a:r>
              <a:t/>
            </a:r>
            <a:endParaRPr sz="2800">
              <a:solidFill>
                <a:schemeClr val="accent2"/>
              </a:solidFill>
            </a:endParaRPr>
          </a:p>
        </p:txBody>
      </p:sp>
      <p:sp>
        <p:nvSpPr>
          <p:cNvPr id="137" name="Google Shape;137;p12"/>
          <p:cNvSpPr txBox="1"/>
          <p:nvPr/>
        </p:nvSpPr>
        <p:spPr>
          <a:xfrm>
            <a:off x="9585900" y="6337500"/>
            <a:ext cx="2502600" cy="7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rgbClr val="FF0000"/>
                </a:solidFill>
                <a:latin typeface="Georgia"/>
                <a:ea typeface="Georgia"/>
                <a:cs typeface="Georgia"/>
                <a:sym typeface="Georgia"/>
              </a:rPr>
              <a:t>Mentor</a:t>
            </a:r>
            <a:br>
              <a:rPr lang="en-US" sz="2200">
                <a:solidFill>
                  <a:srgbClr val="FF0000"/>
                </a:solidFill>
                <a:latin typeface="Georgia"/>
                <a:ea typeface="Georgia"/>
                <a:cs typeface="Georgia"/>
                <a:sym typeface="Georgia"/>
              </a:rPr>
            </a:br>
            <a:r>
              <a:rPr lang="en-US" sz="2200">
                <a:solidFill>
                  <a:schemeClr val="lt2"/>
                </a:solidFill>
                <a:latin typeface="Georgia"/>
                <a:ea typeface="Georgia"/>
                <a:cs typeface="Georgia"/>
                <a:sym typeface="Georgia"/>
              </a:rPr>
              <a:t>Sravani Velagada</a:t>
            </a:r>
            <a:endParaRPr sz="2200">
              <a:solidFill>
                <a:schemeClr val="lt2"/>
              </a:solidFill>
              <a:latin typeface="Georgia"/>
              <a:ea typeface="Georgia"/>
              <a:cs typeface="Georgia"/>
              <a:sym typeface="Georgia"/>
            </a:endParaRPr>
          </a:p>
        </p:txBody>
      </p:sp>
      <p:sp>
        <p:nvSpPr>
          <p:cNvPr id="138" name="Google Shape;138;p12"/>
          <p:cNvSpPr txBox="1"/>
          <p:nvPr/>
        </p:nvSpPr>
        <p:spPr>
          <a:xfrm>
            <a:off x="0" y="4696800"/>
            <a:ext cx="3000000" cy="240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800" u="sng">
                <a:solidFill>
                  <a:srgbClr val="002060"/>
                </a:solidFill>
              </a:rPr>
              <a:t>Team Members:</a:t>
            </a:r>
            <a:br>
              <a:rPr b="1" lang="en-US" sz="2800" u="sng">
                <a:solidFill>
                  <a:srgbClr val="002060"/>
                </a:solidFill>
              </a:rPr>
            </a:br>
            <a:r>
              <a:rPr b="1" lang="en-US" sz="2000" u="sng">
                <a:solidFill>
                  <a:srgbClr val="002060"/>
                </a:solidFill>
              </a:rPr>
              <a:t> </a:t>
            </a:r>
            <a:r>
              <a:rPr lang="en-US" sz="2000">
                <a:solidFill>
                  <a:srgbClr val="FFFFFF"/>
                </a:solidFill>
              </a:rPr>
              <a:t>Akhil Muniganti</a:t>
            </a:r>
            <a:br>
              <a:rPr lang="en-US" sz="2000">
                <a:solidFill>
                  <a:srgbClr val="FFFFFF"/>
                </a:solidFill>
              </a:rPr>
            </a:br>
            <a:r>
              <a:rPr lang="en-US" sz="2000">
                <a:solidFill>
                  <a:srgbClr val="FFFFFF"/>
                </a:solidFill>
              </a:rPr>
              <a:t> Kasoju Sai Vineeth</a:t>
            </a:r>
            <a:br>
              <a:rPr lang="en-US" sz="2000">
                <a:solidFill>
                  <a:srgbClr val="FFFFFF"/>
                </a:solidFill>
              </a:rPr>
            </a:br>
            <a:r>
              <a:rPr lang="en-US" sz="2000">
                <a:solidFill>
                  <a:srgbClr val="FFFFFF"/>
                </a:solidFill>
              </a:rPr>
              <a:t> Sandeep Kumar Reddy</a:t>
            </a:r>
            <a:br>
              <a:rPr lang="en-US" sz="2000">
                <a:solidFill>
                  <a:srgbClr val="FFFFFF"/>
                </a:solidFill>
              </a:rPr>
            </a:br>
            <a:r>
              <a:rPr lang="en-US" sz="2000">
                <a:solidFill>
                  <a:srgbClr val="FFFFFF"/>
                </a:solidFill>
              </a:rPr>
              <a:t> Siva Prasad</a:t>
            </a:r>
            <a:br>
              <a:rPr lang="en-US" sz="2000">
                <a:solidFill>
                  <a:srgbClr val="FFFFFF"/>
                </a:solidFill>
              </a:rPr>
            </a:br>
            <a:r>
              <a:rPr lang="en-US" sz="2000">
                <a:solidFill>
                  <a:srgbClr val="FFFFFF"/>
                </a:solidFill>
              </a:rPr>
              <a:t> Laxmi Reddy</a:t>
            </a:r>
            <a:endParaRPr sz="20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p:nvPr/>
        </p:nvSpPr>
        <p:spPr>
          <a:xfrm>
            <a:off x="3972230" y="324465"/>
            <a:ext cx="3057833" cy="914400"/>
          </a:xfrm>
          <a:prstGeom prst="rect">
            <a:avLst/>
          </a:prstGeom>
          <a:solidFill>
            <a:schemeClr val="accent1"/>
          </a:solidFill>
          <a:ln cap="flat" cmpd="sng" w="12700">
            <a:solidFill>
              <a:srgbClr val="002B6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chemeClr val="lt1"/>
                </a:solidFill>
                <a:latin typeface="Arial"/>
                <a:ea typeface="Arial"/>
                <a:cs typeface="Arial"/>
                <a:sym typeface="Arial"/>
              </a:rPr>
              <a:t>INTRODUCTION</a:t>
            </a:r>
            <a:endParaRPr/>
          </a:p>
        </p:txBody>
      </p:sp>
      <p:sp>
        <p:nvSpPr>
          <p:cNvPr id="145" name="Google Shape;145;p13"/>
          <p:cNvSpPr txBox="1"/>
          <p:nvPr/>
        </p:nvSpPr>
        <p:spPr>
          <a:xfrm>
            <a:off x="393289" y="1730479"/>
            <a:ext cx="9242324" cy="37856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This project analyzes Nithin’s monthly income and spending pattern to understand why he is unable to save for buying a bike. Although Nithin earns a salary of ₹15,000, a major portion of his income is spent on less essential expenses. By categorizing expenses into essential and non-essential items and analyzing the data from the uploaded expense reports, this study identifies areas where costs can be reduced. The goal is to help Nithin manage his expenses better, increase savings, and make buying a bike financially achievable.</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idx="1" type="body"/>
          </p:nvPr>
        </p:nvSpPr>
        <p:spPr>
          <a:xfrm>
            <a:off x="552000" y="1098750"/>
            <a:ext cx="10200900" cy="4660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None/>
            </a:pPr>
            <a:r>
              <a:rPr lang="en-US" sz="2150"/>
              <a:t>1. a)How much is spent for each category? (Pivot Table)</a:t>
            </a:r>
            <a:endParaRPr sz="2150"/>
          </a:p>
          <a:p>
            <a:pPr indent="-342900" lvl="0" marL="285750" rtl="0" algn="l">
              <a:lnSpc>
                <a:spcPct val="115000"/>
              </a:lnSpc>
              <a:spcBef>
                <a:spcPts val="0"/>
              </a:spcBef>
              <a:spcAft>
                <a:spcPts val="0"/>
              </a:spcAft>
              <a:buClr>
                <a:schemeClr val="dk1"/>
              </a:buClr>
              <a:buSzPts val="1100"/>
              <a:buNone/>
            </a:pPr>
            <a:r>
              <a:rPr lang="en-US" sz="2150"/>
              <a:t>     b)Visually represent the amount spent against each category as what percentage of the total expense amount (Pivot Chart)</a:t>
            </a:r>
            <a:endParaRPr sz="2150"/>
          </a:p>
          <a:p>
            <a:pPr indent="0" lvl="0" marL="0" rtl="0" algn="l">
              <a:lnSpc>
                <a:spcPct val="115000"/>
              </a:lnSpc>
              <a:spcBef>
                <a:spcPts val="0"/>
              </a:spcBef>
              <a:spcAft>
                <a:spcPts val="0"/>
              </a:spcAft>
              <a:buClr>
                <a:schemeClr val="dk1"/>
              </a:buClr>
              <a:buSzPts val="1100"/>
              <a:buNone/>
            </a:pPr>
            <a:r>
              <a:rPr lang="en-US" sz="2150"/>
              <a:t>2. a)How much is spent on different items of each category? (Pivot Table)</a:t>
            </a:r>
            <a:endParaRPr sz="2150"/>
          </a:p>
          <a:p>
            <a:pPr indent="0" lvl="0" marL="342900" rtl="0" algn="l">
              <a:lnSpc>
                <a:spcPct val="115000"/>
              </a:lnSpc>
              <a:spcBef>
                <a:spcPts val="0"/>
              </a:spcBef>
              <a:spcAft>
                <a:spcPts val="0"/>
              </a:spcAft>
              <a:buClr>
                <a:schemeClr val="dk1"/>
              </a:buClr>
              <a:buSzPts val="1100"/>
              <a:buNone/>
            </a:pPr>
            <a:r>
              <a:rPr lang="en-US" sz="2150"/>
              <a:t>b)Visually represent the amount spent on different items of Entertainment and Tickets and Bills category (Pivot Chart)</a:t>
            </a:r>
            <a:endParaRPr sz="2150"/>
          </a:p>
          <a:p>
            <a:pPr indent="-285750" lvl="0" marL="285750" rtl="0" algn="l">
              <a:lnSpc>
                <a:spcPct val="115000"/>
              </a:lnSpc>
              <a:spcBef>
                <a:spcPts val="0"/>
              </a:spcBef>
              <a:spcAft>
                <a:spcPts val="0"/>
              </a:spcAft>
              <a:buClr>
                <a:schemeClr val="dk1"/>
              </a:buClr>
              <a:buSzPts val="1100"/>
              <a:buNone/>
            </a:pPr>
            <a:r>
              <a:rPr lang="en-US" sz="2150"/>
              <a:t>3. a)How many times money has been spent against different items of each       category (Pivot Table)</a:t>
            </a:r>
            <a:endParaRPr sz="2150"/>
          </a:p>
          <a:p>
            <a:pPr indent="342900" lvl="0" marL="0" rtl="0" algn="l">
              <a:lnSpc>
                <a:spcPct val="115000"/>
              </a:lnSpc>
              <a:spcBef>
                <a:spcPts val="0"/>
              </a:spcBef>
              <a:spcAft>
                <a:spcPts val="0"/>
              </a:spcAft>
              <a:buClr>
                <a:schemeClr val="dk1"/>
              </a:buClr>
              <a:buSzPts val="1100"/>
              <a:buNone/>
            </a:pPr>
            <a:r>
              <a:rPr lang="en-US" sz="2150"/>
              <a:t>b)Filter the data to display the data for Grocery items and Shopping items</a:t>
            </a:r>
            <a:endParaRPr sz="2150"/>
          </a:p>
          <a:p>
            <a:pPr indent="-285750" lvl="0" marL="285750" rtl="0" algn="l">
              <a:lnSpc>
                <a:spcPct val="115000"/>
              </a:lnSpc>
              <a:spcBef>
                <a:spcPts val="0"/>
              </a:spcBef>
              <a:spcAft>
                <a:spcPts val="0"/>
              </a:spcAft>
              <a:buClr>
                <a:schemeClr val="dk1"/>
              </a:buClr>
              <a:buSzPts val="1100"/>
              <a:buNone/>
            </a:pPr>
            <a:r>
              <a:rPr lang="en-US" sz="2150"/>
              <a:t>4. a)What amount is spent on each item of the categories with highest and 2nd highest expense amount (Pivot Table)</a:t>
            </a:r>
            <a:endParaRPr sz="2150"/>
          </a:p>
          <a:p>
            <a:pPr indent="285750" lvl="0" marL="0" rtl="0" algn="l">
              <a:lnSpc>
                <a:spcPct val="115000"/>
              </a:lnSpc>
              <a:spcBef>
                <a:spcPts val="0"/>
              </a:spcBef>
              <a:spcAft>
                <a:spcPts val="0"/>
              </a:spcAft>
              <a:buClr>
                <a:schemeClr val="dk1"/>
              </a:buClr>
              <a:buSzPts val="1100"/>
              <a:buNone/>
            </a:pPr>
            <a:r>
              <a:rPr lang="en-US" sz="2150"/>
              <a:t>b)Visually represent the data with data bars (Conditional Formatting)</a:t>
            </a:r>
            <a:endParaRPr sz="2150"/>
          </a:p>
        </p:txBody>
      </p:sp>
      <p:sp>
        <p:nvSpPr>
          <p:cNvPr id="152" name="Google Shape;152;p14"/>
          <p:cNvSpPr txBox="1"/>
          <p:nvPr>
            <p:ph type="title"/>
          </p:nvPr>
        </p:nvSpPr>
        <p:spPr>
          <a:xfrm>
            <a:off x="4306525" y="102025"/>
            <a:ext cx="2255100" cy="812400"/>
          </a:xfrm>
          <a:prstGeom prst="rect">
            <a:avLst/>
          </a:prstGeom>
          <a:solidFill>
            <a:schemeClr val="accent1"/>
          </a:solidFill>
          <a:ln cap="flat" cmpd="sng" w="12700">
            <a:solidFill>
              <a:srgbClr val="002B6B"/>
            </a:solidFill>
            <a:prstDash val="solid"/>
            <a:miter lim="800000"/>
            <a:headEnd len="sm" w="sm" type="none"/>
            <a:tailEnd len="sm" w="sm" type="none"/>
          </a:ln>
        </p:spPr>
        <p:txBody>
          <a:bodyPr anchorCtr="0" anchor="b" bIns="45700" lIns="91425" spcFirstLastPara="1" rIns="91425" wrap="square" tIns="45700">
            <a:noAutofit/>
          </a:bodyPr>
          <a:lstStyle/>
          <a:p>
            <a:pPr indent="0" lvl="0" marL="0" rtl="0" algn="ctr">
              <a:lnSpc>
                <a:spcPct val="80000"/>
              </a:lnSpc>
              <a:spcBef>
                <a:spcPts val="0"/>
              </a:spcBef>
              <a:spcAft>
                <a:spcPts val="0"/>
              </a:spcAft>
              <a:buClr>
                <a:schemeClr val="lt1"/>
              </a:buClr>
              <a:buSzPts val="4200"/>
              <a:buFont typeface="Arial"/>
              <a:buNone/>
            </a:pPr>
            <a:r>
              <a:rPr lang="en-US">
                <a:solidFill>
                  <a:schemeClr val="lt1"/>
                </a:solidFill>
                <a:latin typeface="Arial"/>
                <a:ea typeface="Arial"/>
                <a:cs typeface="Arial"/>
                <a:sym typeface="Arial"/>
              </a:rPr>
              <a:t>Agenda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nvSpPr>
        <p:spPr>
          <a:xfrm>
            <a:off x="579525" y="1020150"/>
            <a:ext cx="9745500" cy="481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50"/>
              <a:t>5. a) Month-wise trend of expenses (Pivot Table and Chart)</a:t>
            </a:r>
            <a:endParaRPr sz="2150"/>
          </a:p>
          <a:p>
            <a:pPr indent="0" lvl="0" marL="0" rtl="0" algn="l">
              <a:spcBef>
                <a:spcPts val="0"/>
              </a:spcBef>
              <a:spcAft>
                <a:spcPts val="0"/>
              </a:spcAft>
              <a:buNone/>
            </a:pPr>
            <a:r>
              <a:rPr lang="en-US" sz="2150"/>
              <a:t>    b) Find out the month Nitin spent the most</a:t>
            </a:r>
            <a:endParaRPr sz="2150"/>
          </a:p>
          <a:p>
            <a:pPr indent="0" lvl="0" marL="0" rtl="0" algn="l">
              <a:spcBef>
                <a:spcPts val="0"/>
              </a:spcBef>
              <a:spcAft>
                <a:spcPts val="0"/>
              </a:spcAft>
              <a:buNone/>
            </a:pPr>
            <a:r>
              <a:rPr lang="en-US" sz="2150"/>
              <a:t>6. a) Category-wise expenses (Pivot Table)</a:t>
            </a:r>
            <a:endParaRPr sz="2150"/>
          </a:p>
          <a:p>
            <a:pPr indent="0" lvl="0" marL="0" rtl="0" algn="l">
              <a:spcBef>
                <a:spcPts val="0"/>
              </a:spcBef>
              <a:spcAft>
                <a:spcPts val="0"/>
              </a:spcAft>
              <a:buNone/>
            </a:pPr>
            <a:r>
              <a:rPr lang="en-US" sz="2150"/>
              <a:t>    b) Visually represent it with data bars to display categories with the highest and lowest expense amount</a:t>
            </a:r>
            <a:endParaRPr sz="2150"/>
          </a:p>
          <a:p>
            <a:pPr indent="0" lvl="0" marL="0" rtl="0" algn="l">
              <a:spcBef>
                <a:spcPts val="0"/>
              </a:spcBef>
              <a:spcAft>
                <a:spcPts val="0"/>
              </a:spcAft>
              <a:buNone/>
            </a:pPr>
            <a:r>
              <a:rPr lang="en-US" sz="2150"/>
              <a:t>7. a) Month-wise expense of each category (Pivot Table)</a:t>
            </a:r>
            <a:endParaRPr sz="2150"/>
          </a:p>
          <a:p>
            <a:pPr indent="0" lvl="0" marL="0" rtl="0" algn="l">
              <a:spcBef>
                <a:spcPts val="0"/>
              </a:spcBef>
              <a:spcAft>
                <a:spcPts val="0"/>
              </a:spcAft>
              <a:buNone/>
            </a:pPr>
            <a:r>
              <a:rPr lang="en-US" sz="2150"/>
              <a:t>    b) Find out 2 categories with higher expenses for each of the 6 months</a:t>
            </a:r>
            <a:endParaRPr sz="2150"/>
          </a:p>
          <a:p>
            <a:pPr indent="-285750" lvl="0" marL="285750" rtl="0" algn="l">
              <a:spcBef>
                <a:spcPts val="0"/>
              </a:spcBef>
              <a:spcAft>
                <a:spcPts val="0"/>
              </a:spcAft>
              <a:buNone/>
            </a:pPr>
            <a:r>
              <a:rPr lang="en-US" sz="2150"/>
              <a:t>8. a) How much is spent in each month against different items of   Entertainment, Food, and Shopping categories (Pivot Table)</a:t>
            </a:r>
            <a:endParaRPr sz="2150"/>
          </a:p>
          <a:p>
            <a:pPr indent="-285750" lvl="0" marL="285750" rtl="0" algn="l">
              <a:spcBef>
                <a:spcPts val="0"/>
              </a:spcBef>
              <a:spcAft>
                <a:spcPts val="0"/>
              </a:spcAft>
              <a:buNone/>
            </a:pPr>
            <a:r>
              <a:rPr lang="en-US" sz="2150"/>
              <a:t>    b) Find out which months have the highest amount spent for movies and  dining out</a:t>
            </a:r>
            <a:endParaRPr sz="2150"/>
          </a:p>
          <a:p>
            <a:pPr indent="-285750" lvl="0" marL="285750" rtl="0" algn="l">
              <a:spcBef>
                <a:spcPts val="0"/>
              </a:spcBef>
              <a:spcAft>
                <a:spcPts val="0"/>
              </a:spcAft>
              <a:buNone/>
            </a:pPr>
            <a:r>
              <a:rPr lang="en-US" sz="2150"/>
              <a:t>9. a)Decide on the essential and less essential items and analyse the expenses</a:t>
            </a:r>
            <a:endParaRPr sz="2150"/>
          </a:p>
          <a:p>
            <a:pPr indent="0" lvl="0" marL="285750" rtl="0" algn="l">
              <a:spcBef>
                <a:spcPts val="0"/>
              </a:spcBef>
              <a:spcAft>
                <a:spcPts val="0"/>
              </a:spcAft>
              <a:buNone/>
            </a:pPr>
            <a:r>
              <a:rPr lang="en-US" sz="2150"/>
              <a:t>b)Recommend how Nitin can increase his savings</a:t>
            </a:r>
            <a:endParaRPr sz="21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nvSpPr>
        <p:spPr>
          <a:xfrm>
            <a:off x="851125" y="98525"/>
            <a:ext cx="7630200" cy="3762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dk1"/>
              </a:buClr>
              <a:buSzPts val="1100"/>
              <a:buFont typeface="Arial"/>
              <a:buNone/>
            </a:pPr>
            <a:r>
              <a:rPr b="1" lang="en-US" sz="2050">
                <a:solidFill>
                  <a:schemeClr val="dk1"/>
                </a:solidFill>
              </a:rPr>
              <a:t>1. a) How much is spent for each category? (Pivot Table)</a:t>
            </a:r>
            <a:endParaRPr b="1" sz="2050"/>
          </a:p>
        </p:txBody>
      </p:sp>
      <p:graphicFrame>
        <p:nvGraphicFramePr>
          <p:cNvPr id="165" name="Google Shape;165;p16"/>
          <p:cNvGraphicFramePr/>
          <p:nvPr/>
        </p:nvGraphicFramePr>
        <p:xfrm>
          <a:off x="851113" y="825813"/>
          <a:ext cx="3000000" cy="3000000"/>
        </p:xfrm>
        <a:graphic>
          <a:graphicData uri="http://schemas.openxmlformats.org/drawingml/2006/table">
            <a:tbl>
              <a:tblPr>
                <a:noFill/>
                <a:tableStyleId>{23E7B3AD-0200-4C08-884D-0D713E3854AC}</a:tableStyleId>
              </a:tblPr>
              <a:tblGrid>
                <a:gridCol w="1944275"/>
                <a:gridCol w="2063000"/>
              </a:tblGrid>
              <a:tr h="374800">
                <a:tc>
                  <a:txBody>
                    <a:bodyPr/>
                    <a:lstStyle/>
                    <a:p>
                      <a:pPr indent="0" lvl="0" marL="0" rtl="0" algn="l">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l">
                        <a:spcBef>
                          <a:spcPts val="0"/>
                        </a:spcBef>
                        <a:spcAft>
                          <a:spcPts val="0"/>
                        </a:spcAft>
                        <a:buNone/>
                      </a:pPr>
                      <a:r>
                        <a:rPr b="1" lang="en-US" sz="1100">
                          <a:latin typeface="Calibri"/>
                          <a:ea typeface="Calibri"/>
                          <a:cs typeface="Calibri"/>
                          <a:sym typeface="Calibri"/>
                        </a:rPr>
                        <a:t>          </a:t>
                      </a:r>
                      <a:r>
                        <a:rPr b="1" lang="en-US" sz="1100">
                          <a:latin typeface="Calibri"/>
                          <a:ea typeface="Calibri"/>
                          <a:cs typeface="Calibri"/>
                          <a:sym typeface="Calibri"/>
                        </a:rPr>
                        <a:t>Sum of Expense</a:t>
                      </a:r>
                      <a:r>
                        <a:rPr b="1" lang="en-US" sz="1100">
                          <a:latin typeface="Calibri"/>
                          <a:ea typeface="Calibri"/>
                          <a:cs typeface="Calibri"/>
                          <a:sym typeface="Calibri"/>
                        </a:rPr>
                        <a:t> </a:t>
                      </a:r>
                      <a:r>
                        <a:rPr b="1" lang="en-US" sz="1100">
                          <a:latin typeface="Calibri"/>
                          <a:ea typeface="Calibri"/>
                          <a:cs typeface="Calibri"/>
                          <a:sym typeface="Calibri"/>
                        </a:rPr>
                        <a:t>(INR)</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455400">
                <a:tc>
                  <a:txBody>
                    <a:bodyPr/>
                    <a:lstStyle/>
                    <a:p>
                      <a:pPr indent="0" lvl="0" marL="0" rtl="0" algn="ctr">
                        <a:spcBef>
                          <a:spcPts val="0"/>
                        </a:spcBef>
                        <a:spcAft>
                          <a:spcPts val="0"/>
                        </a:spcAft>
                        <a:buNone/>
                      </a:pPr>
                      <a:r>
                        <a:rPr lang="en-US"/>
                        <a:t>Doctor and Medicine</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lnSpc>
                          <a:spcPct val="115000"/>
                        </a:lnSpc>
                        <a:spcBef>
                          <a:spcPts val="0"/>
                        </a:spcBef>
                        <a:spcAft>
                          <a:spcPts val="0"/>
                        </a:spcAft>
                        <a:buNone/>
                      </a:pPr>
                      <a:r>
                        <a:rPr lang="en-US"/>
                        <a:t>450</a:t>
                      </a:r>
                      <a:endParaRPr/>
                    </a:p>
                  </a:txBody>
                  <a:tcPr marT="91425" marB="91425" marR="91425" marL="91425">
                    <a:lnT cap="flat" cmpd="sng" w="7625">
                      <a:solidFill>
                        <a:srgbClr val="9BC2E6"/>
                      </a:solidFill>
                      <a:prstDash val="solid"/>
                      <a:round/>
                      <a:headEnd len="sm" w="sm" type="none"/>
                      <a:tailEnd len="sm" w="sm" type="none"/>
                    </a:lnT>
                    <a:noFill/>
                  </a:tcPr>
                </a:tc>
              </a:tr>
              <a:tr h="455400">
                <a:tc>
                  <a:txBody>
                    <a:bodyPr/>
                    <a:lstStyle/>
                    <a:p>
                      <a:pPr indent="0" lvl="0" marL="0" rtl="0" algn="ctr">
                        <a:spcBef>
                          <a:spcPts val="0"/>
                        </a:spcBef>
                        <a:spcAft>
                          <a:spcPts val="0"/>
                        </a:spcAft>
                        <a:buNone/>
                      </a:pPr>
                      <a:r>
                        <a:rPr lang="en-US"/>
                        <a:t>Entertainment</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1000</a:t>
                      </a:r>
                      <a:endParaRPr/>
                    </a:p>
                  </a:txBody>
                  <a:tcPr marT="91425" marB="91425" marR="91425" marL="91425">
                    <a:noFill/>
                  </a:tcPr>
                </a:tc>
              </a:tr>
              <a:tr h="455400">
                <a:tc>
                  <a:txBody>
                    <a:bodyPr/>
                    <a:lstStyle/>
                    <a:p>
                      <a:pPr indent="0" lvl="0" marL="0" rtl="0" algn="ctr">
                        <a:spcBef>
                          <a:spcPts val="0"/>
                        </a:spcBef>
                        <a:spcAft>
                          <a:spcPts val="0"/>
                        </a:spcAft>
                        <a:buNone/>
                      </a:pPr>
                      <a:r>
                        <a:rPr lang="en-US"/>
                        <a:t>Food</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850</a:t>
                      </a:r>
                      <a:endParaRPr/>
                    </a:p>
                  </a:txBody>
                  <a:tcPr marT="91425" marB="91425" marR="91425" marL="91425">
                    <a:noFill/>
                  </a:tcPr>
                </a:tc>
              </a:tr>
              <a:tr h="455400">
                <a:tc>
                  <a:txBody>
                    <a:bodyPr/>
                    <a:lstStyle/>
                    <a:p>
                      <a:pPr indent="0" lvl="0" marL="0" rtl="0" algn="ctr">
                        <a:spcBef>
                          <a:spcPts val="0"/>
                        </a:spcBef>
                        <a:spcAft>
                          <a:spcPts val="0"/>
                        </a:spcAft>
                        <a:buNone/>
                      </a:pPr>
                      <a:r>
                        <a:rPr lang="en-US"/>
                        <a:t>Grocery</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4690</a:t>
                      </a:r>
                      <a:endParaRPr/>
                    </a:p>
                  </a:txBody>
                  <a:tcPr marT="91425" marB="91425" marR="91425" marL="91425">
                    <a:noFill/>
                  </a:tcPr>
                </a:tc>
              </a:tr>
              <a:tr h="455400">
                <a:tc>
                  <a:txBody>
                    <a:bodyPr/>
                    <a:lstStyle/>
                    <a:p>
                      <a:pPr indent="0" lvl="0" marL="0" rtl="0" algn="ctr">
                        <a:spcBef>
                          <a:spcPts val="0"/>
                        </a:spcBef>
                        <a:spcAft>
                          <a:spcPts val="0"/>
                        </a:spcAft>
                        <a:buNone/>
                      </a:pPr>
                      <a:r>
                        <a:rPr lang="en-US"/>
                        <a:t>Miscellaneous</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500</a:t>
                      </a:r>
                      <a:endParaRPr/>
                    </a:p>
                  </a:txBody>
                  <a:tcPr marT="91425" marB="91425" marR="91425" marL="91425">
                    <a:noFill/>
                  </a:tcPr>
                </a:tc>
              </a:tr>
              <a:tr h="455400">
                <a:tc>
                  <a:txBody>
                    <a:bodyPr/>
                    <a:lstStyle/>
                    <a:p>
                      <a:pPr indent="0" lvl="0" marL="0" rtl="0" algn="ctr">
                        <a:spcBef>
                          <a:spcPts val="0"/>
                        </a:spcBef>
                        <a:spcAft>
                          <a:spcPts val="0"/>
                        </a:spcAft>
                        <a:buNone/>
                      </a:pPr>
                      <a:r>
                        <a:rPr lang="en-US"/>
                        <a:t>Shopping</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3500</a:t>
                      </a:r>
                      <a:endParaRPr/>
                    </a:p>
                  </a:txBody>
                  <a:tcPr marT="91425" marB="91425" marR="91425" marL="91425">
                    <a:noFill/>
                  </a:tcPr>
                </a:tc>
              </a:tr>
              <a:tr h="455400">
                <a:tc>
                  <a:txBody>
                    <a:bodyPr/>
                    <a:lstStyle/>
                    <a:p>
                      <a:pPr indent="0" lvl="0" marL="0" rtl="0" algn="ctr">
                        <a:spcBef>
                          <a:spcPts val="0"/>
                        </a:spcBef>
                        <a:spcAft>
                          <a:spcPts val="0"/>
                        </a:spcAft>
                        <a:buNone/>
                      </a:pPr>
                      <a:r>
                        <a:rPr lang="en-US"/>
                        <a:t>Ticket and Bills</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2570</a:t>
                      </a:r>
                      <a:endParaRPr/>
                    </a:p>
                  </a:txBody>
                  <a:tcPr marT="91425" marB="91425" marR="91425" marL="91425">
                    <a:lnB cap="flat" cmpd="sng" w="7625">
                      <a:solidFill>
                        <a:srgbClr val="9BC2E6"/>
                      </a:solidFill>
                      <a:prstDash val="solid"/>
                      <a:round/>
                      <a:headEnd len="sm" w="sm" type="none"/>
                      <a:tailEnd len="sm" w="sm" type="none"/>
                    </a:lnB>
                    <a:noFill/>
                  </a:tcPr>
                </a:tc>
              </a:tr>
              <a:tr h="511875">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13560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166" name="Google Shape;166;p16"/>
          <p:cNvPicPr preferRelativeResize="0"/>
          <p:nvPr/>
        </p:nvPicPr>
        <p:blipFill>
          <a:blip r:embed="rId3">
            <a:alphaModFix/>
          </a:blip>
          <a:stretch>
            <a:fillRect/>
          </a:stretch>
        </p:blipFill>
        <p:spPr>
          <a:xfrm>
            <a:off x="5335388" y="825825"/>
            <a:ext cx="5102625" cy="4169675"/>
          </a:xfrm>
          <a:prstGeom prst="rect">
            <a:avLst/>
          </a:prstGeom>
          <a:noFill/>
          <a:ln>
            <a:noFill/>
          </a:ln>
        </p:spPr>
      </p:pic>
      <p:sp>
        <p:nvSpPr>
          <p:cNvPr id="167" name="Google Shape;167;p16"/>
          <p:cNvSpPr txBox="1"/>
          <p:nvPr/>
        </p:nvSpPr>
        <p:spPr>
          <a:xfrm>
            <a:off x="851125" y="5451225"/>
            <a:ext cx="7237800" cy="832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US">
                <a:solidFill>
                  <a:schemeClr val="dk1"/>
                </a:solidFill>
              </a:rPr>
              <a:t>The amount spent for each category is: Doctor &amp; Medicine ₹450, Entertainment ₹1,000, Food ₹850, Grocery ₹4,590, Miscellaneous ₹500, Shopping ₹3,500, and Ticket &amp; Bills ₹2,57</a:t>
            </a:r>
            <a:r>
              <a:rPr lang="en-US">
                <a:solidFill>
                  <a:schemeClr val="dk1"/>
                </a:solidFill>
              </a:rPr>
              <a:t>0.</a:t>
            </a:r>
            <a:endParaRPr sz="3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nvSpPr>
        <p:spPr>
          <a:xfrm>
            <a:off x="868900" y="4650"/>
            <a:ext cx="8574000" cy="75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50">
                <a:solidFill>
                  <a:schemeClr val="dk1"/>
                </a:solidFill>
              </a:rPr>
              <a:t>1. b)Visually represent the amount spent against each category as what percentage of the total expense amount (Pivot Chart)</a:t>
            </a:r>
            <a:endParaRPr b="1" sz="1300"/>
          </a:p>
        </p:txBody>
      </p:sp>
      <p:graphicFrame>
        <p:nvGraphicFramePr>
          <p:cNvPr id="174" name="Google Shape;174;p17"/>
          <p:cNvGraphicFramePr/>
          <p:nvPr/>
        </p:nvGraphicFramePr>
        <p:xfrm>
          <a:off x="651838" y="867213"/>
          <a:ext cx="3000000" cy="3000000"/>
        </p:xfrm>
        <a:graphic>
          <a:graphicData uri="http://schemas.openxmlformats.org/drawingml/2006/table">
            <a:tbl>
              <a:tblPr>
                <a:noFill/>
                <a:tableStyleId>{23E7B3AD-0200-4C08-884D-0D713E3854AC}</a:tableStyleId>
              </a:tblPr>
              <a:tblGrid>
                <a:gridCol w="2282525"/>
                <a:gridCol w="2421900"/>
              </a:tblGrid>
              <a:tr h="474975">
                <a:tc>
                  <a:txBody>
                    <a:bodyPr/>
                    <a:lstStyle/>
                    <a:p>
                      <a:pPr indent="0" lvl="0" marL="0" rtl="0" algn="ctr">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Sum of Expense (INR)</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543800">
                <a:tc>
                  <a:txBody>
                    <a:bodyPr/>
                    <a:lstStyle/>
                    <a:p>
                      <a:pPr indent="0" lvl="0" marL="0" rtl="0" algn="ctr">
                        <a:spcBef>
                          <a:spcPts val="0"/>
                        </a:spcBef>
                        <a:spcAft>
                          <a:spcPts val="0"/>
                        </a:spcAft>
                        <a:buNone/>
                      </a:pPr>
                      <a:r>
                        <a:rPr lang="en-US"/>
                        <a:t>Doctor and Medicine</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lnSpc>
                          <a:spcPct val="115000"/>
                        </a:lnSpc>
                        <a:spcBef>
                          <a:spcPts val="0"/>
                        </a:spcBef>
                        <a:spcAft>
                          <a:spcPts val="0"/>
                        </a:spcAft>
                        <a:buNone/>
                      </a:pPr>
                      <a:r>
                        <a:rPr lang="en-US"/>
                        <a:t>3.32%</a:t>
                      </a:r>
                      <a:endParaRPr/>
                    </a:p>
                  </a:txBody>
                  <a:tcPr marT="91425" marB="91425" marR="91425" marL="91425">
                    <a:lnT cap="flat" cmpd="sng" w="7625">
                      <a:solidFill>
                        <a:srgbClr val="9BC2E6"/>
                      </a:solidFill>
                      <a:prstDash val="solid"/>
                      <a:round/>
                      <a:headEnd len="sm" w="sm" type="none"/>
                      <a:tailEnd len="sm" w="sm" type="none"/>
                    </a:lnT>
                    <a:noFill/>
                  </a:tcPr>
                </a:tc>
              </a:tr>
              <a:tr h="543800">
                <a:tc>
                  <a:txBody>
                    <a:bodyPr/>
                    <a:lstStyle/>
                    <a:p>
                      <a:pPr indent="0" lvl="0" marL="0" rtl="0" algn="ctr">
                        <a:spcBef>
                          <a:spcPts val="0"/>
                        </a:spcBef>
                        <a:spcAft>
                          <a:spcPts val="0"/>
                        </a:spcAft>
                        <a:buNone/>
                      </a:pPr>
                      <a:r>
                        <a:rPr lang="en-US"/>
                        <a:t>Entertainment</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7.37%</a:t>
                      </a:r>
                      <a:endParaRPr/>
                    </a:p>
                  </a:txBody>
                  <a:tcPr marT="91425" marB="91425" marR="91425" marL="91425">
                    <a:noFill/>
                  </a:tcPr>
                </a:tc>
              </a:tr>
              <a:tr h="426425">
                <a:tc>
                  <a:txBody>
                    <a:bodyPr/>
                    <a:lstStyle/>
                    <a:p>
                      <a:pPr indent="0" lvl="0" marL="0" rtl="0" algn="ctr">
                        <a:spcBef>
                          <a:spcPts val="0"/>
                        </a:spcBef>
                        <a:spcAft>
                          <a:spcPts val="0"/>
                        </a:spcAft>
                        <a:buNone/>
                      </a:pPr>
                      <a:r>
                        <a:rPr lang="en-US"/>
                        <a:t>Food</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6.27%</a:t>
                      </a:r>
                      <a:endParaRPr/>
                    </a:p>
                  </a:txBody>
                  <a:tcPr marT="91425" marB="91425" marR="91425" marL="91425">
                    <a:noFill/>
                  </a:tcPr>
                </a:tc>
              </a:tr>
              <a:tr h="426425">
                <a:tc>
                  <a:txBody>
                    <a:bodyPr/>
                    <a:lstStyle/>
                    <a:p>
                      <a:pPr indent="0" lvl="0" marL="0" rtl="0" algn="ctr">
                        <a:spcBef>
                          <a:spcPts val="0"/>
                        </a:spcBef>
                        <a:spcAft>
                          <a:spcPts val="0"/>
                        </a:spcAft>
                        <a:buNone/>
                      </a:pPr>
                      <a:r>
                        <a:rPr lang="en-US"/>
                        <a:t>Grocery</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34.59%</a:t>
                      </a:r>
                      <a:endParaRPr/>
                    </a:p>
                  </a:txBody>
                  <a:tcPr marT="91425" marB="91425" marR="91425" marL="91425">
                    <a:noFill/>
                  </a:tcPr>
                </a:tc>
              </a:tr>
              <a:tr h="543800">
                <a:tc>
                  <a:txBody>
                    <a:bodyPr/>
                    <a:lstStyle/>
                    <a:p>
                      <a:pPr indent="0" lvl="0" marL="0" rtl="0" algn="ctr">
                        <a:spcBef>
                          <a:spcPts val="0"/>
                        </a:spcBef>
                        <a:spcAft>
                          <a:spcPts val="0"/>
                        </a:spcAft>
                        <a:buNone/>
                      </a:pPr>
                      <a:r>
                        <a:rPr lang="en-US"/>
                        <a:t>Miscellaneous</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3.69%</a:t>
                      </a:r>
                      <a:endParaRPr/>
                    </a:p>
                  </a:txBody>
                  <a:tcPr marT="91425" marB="91425" marR="91425" marL="91425">
                    <a:noFill/>
                  </a:tcPr>
                </a:tc>
              </a:tr>
              <a:tr h="426425">
                <a:tc>
                  <a:txBody>
                    <a:bodyPr/>
                    <a:lstStyle/>
                    <a:p>
                      <a:pPr indent="0" lvl="0" marL="0" rtl="0" algn="ctr">
                        <a:spcBef>
                          <a:spcPts val="0"/>
                        </a:spcBef>
                        <a:spcAft>
                          <a:spcPts val="0"/>
                        </a:spcAft>
                        <a:buNone/>
                      </a:pPr>
                      <a:r>
                        <a:rPr lang="en-US"/>
                        <a:t>Shopping</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25.81%</a:t>
                      </a:r>
                      <a:endParaRPr/>
                    </a:p>
                  </a:txBody>
                  <a:tcPr marT="91425" marB="91425" marR="91425" marL="91425">
                    <a:noFill/>
                  </a:tcPr>
                </a:tc>
              </a:tr>
              <a:tr h="543800">
                <a:tc>
                  <a:txBody>
                    <a:bodyPr/>
                    <a:lstStyle/>
                    <a:p>
                      <a:pPr indent="0" lvl="0" marL="0" rtl="0" algn="ctr">
                        <a:spcBef>
                          <a:spcPts val="0"/>
                        </a:spcBef>
                        <a:spcAft>
                          <a:spcPts val="0"/>
                        </a:spcAft>
                        <a:buNone/>
                      </a:pPr>
                      <a:r>
                        <a:rPr lang="en-US"/>
                        <a:t>Ticket and Bills</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18.95%</a:t>
                      </a:r>
                      <a:endParaRPr/>
                    </a:p>
                  </a:txBody>
                  <a:tcPr marT="91425" marB="91425" marR="91425" marL="91425">
                    <a:lnB cap="flat" cmpd="sng" w="7625">
                      <a:solidFill>
                        <a:srgbClr val="9BC2E6"/>
                      </a:solidFill>
                      <a:prstDash val="solid"/>
                      <a:round/>
                      <a:headEnd len="sm" w="sm" type="none"/>
                      <a:tailEnd len="sm" w="sm" type="none"/>
                    </a:lnB>
                    <a:noFill/>
                  </a:tcPr>
                </a:tc>
              </a:tr>
              <a:tr h="369800">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100.00%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175" name="Google Shape;175;p17"/>
          <p:cNvPicPr preferRelativeResize="0"/>
          <p:nvPr/>
        </p:nvPicPr>
        <p:blipFill>
          <a:blip r:embed="rId3">
            <a:alphaModFix/>
          </a:blip>
          <a:stretch>
            <a:fillRect/>
          </a:stretch>
        </p:blipFill>
        <p:spPr>
          <a:xfrm>
            <a:off x="5579075" y="875150"/>
            <a:ext cx="5014750" cy="4299175"/>
          </a:xfrm>
          <a:prstGeom prst="rect">
            <a:avLst/>
          </a:prstGeom>
          <a:noFill/>
          <a:ln>
            <a:noFill/>
          </a:ln>
        </p:spPr>
      </p:pic>
      <p:sp>
        <p:nvSpPr>
          <p:cNvPr id="176" name="Google Shape;176;p17"/>
          <p:cNvSpPr txBox="1"/>
          <p:nvPr/>
        </p:nvSpPr>
        <p:spPr>
          <a:xfrm>
            <a:off x="651850" y="5609400"/>
            <a:ext cx="7236000" cy="867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US">
                <a:solidFill>
                  <a:schemeClr val="dk1"/>
                </a:solidFill>
              </a:rPr>
              <a:t>The percentage-wise expense distribution shows that Grocery contributes the highest share (34.59%), followed by Shopping (25.81%) and Ticket &amp; Bills (18.95%), while Doctor &amp; Medicine has the lowest share (3.32%) of total expenses.</a:t>
            </a:r>
            <a:endParaRPr sz="3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nvSpPr>
        <p:spPr>
          <a:xfrm>
            <a:off x="902200" y="0"/>
            <a:ext cx="8554200" cy="86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50">
                <a:solidFill>
                  <a:schemeClr val="dk1"/>
                </a:solidFill>
              </a:rPr>
              <a:t>2. a)How much is spent on different items of each category? (Pivot Table)</a:t>
            </a:r>
            <a:endParaRPr b="1" sz="2050"/>
          </a:p>
        </p:txBody>
      </p:sp>
      <p:pic>
        <p:nvPicPr>
          <p:cNvPr id="183" name="Google Shape;183;p18"/>
          <p:cNvPicPr preferRelativeResize="0"/>
          <p:nvPr/>
        </p:nvPicPr>
        <p:blipFill>
          <a:blip r:embed="rId3">
            <a:alphaModFix/>
          </a:blip>
          <a:stretch>
            <a:fillRect/>
          </a:stretch>
        </p:blipFill>
        <p:spPr>
          <a:xfrm>
            <a:off x="381000" y="955875"/>
            <a:ext cx="5431075" cy="3964616"/>
          </a:xfrm>
          <a:prstGeom prst="rect">
            <a:avLst/>
          </a:prstGeom>
          <a:noFill/>
          <a:ln>
            <a:noFill/>
          </a:ln>
        </p:spPr>
      </p:pic>
      <p:pic>
        <p:nvPicPr>
          <p:cNvPr id="184" name="Google Shape;184;p18"/>
          <p:cNvPicPr preferRelativeResize="0"/>
          <p:nvPr/>
        </p:nvPicPr>
        <p:blipFill>
          <a:blip r:embed="rId4">
            <a:alphaModFix/>
          </a:blip>
          <a:stretch>
            <a:fillRect/>
          </a:stretch>
        </p:blipFill>
        <p:spPr>
          <a:xfrm>
            <a:off x="5905500" y="955875"/>
            <a:ext cx="4909451" cy="3922800"/>
          </a:xfrm>
          <a:prstGeom prst="rect">
            <a:avLst/>
          </a:prstGeom>
          <a:noFill/>
          <a:ln>
            <a:noFill/>
          </a:ln>
        </p:spPr>
      </p:pic>
      <p:sp>
        <p:nvSpPr>
          <p:cNvPr id="185" name="Google Shape;185;p18"/>
          <p:cNvSpPr txBox="1"/>
          <p:nvPr/>
        </p:nvSpPr>
        <p:spPr>
          <a:xfrm>
            <a:off x="252450" y="4971450"/>
            <a:ext cx="7854000" cy="1750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US">
                <a:solidFill>
                  <a:schemeClr val="dk1"/>
                </a:solidFill>
              </a:rPr>
              <a:t>The amount spent on different items of each category is as follows: groceries include vegetables (₹1,690), foodgrains &amp; cereals (₹1,050), fruit (₹650), oil &amp; spices (₹550), bread &amp; bakery (₹500), and beverages (₹250); food includes online food orders (₹600) and chips &amp; fries (₹250); shopping includes T-shirt &amp; jeans (₹2,500) and shoes (₹1,000); ticket &amp; bills include house help (₹1,000), gas (₹850), electricity bill (₹370), and railway monthly ticket (₹350); entertainment includes movies (₹1,000); doctor &amp; medicine includes mother’s medicine (₹450); and miscellaneous includes sister’s birthday gift (₹500).</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nvSpPr>
        <p:spPr>
          <a:xfrm>
            <a:off x="835600" y="73250"/>
            <a:ext cx="8322900" cy="89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150">
                <a:solidFill>
                  <a:schemeClr val="dk1"/>
                </a:solidFill>
              </a:rPr>
              <a:t>2. b)Visually represent the amount spent on different items of Entertainment and Tickets and Bills category (Pivot Chart)</a:t>
            </a:r>
            <a:endParaRPr b="1" sz="2150">
              <a:solidFill>
                <a:schemeClr val="dk1"/>
              </a:solidFill>
            </a:endParaRPr>
          </a:p>
        </p:txBody>
      </p:sp>
      <p:graphicFrame>
        <p:nvGraphicFramePr>
          <p:cNvPr id="192" name="Google Shape;192;p19"/>
          <p:cNvGraphicFramePr/>
          <p:nvPr/>
        </p:nvGraphicFramePr>
        <p:xfrm>
          <a:off x="254550" y="1138725"/>
          <a:ext cx="3000000" cy="3000000"/>
        </p:xfrm>
        <a:graphic>
          <a:graphicData uri="http://schemas.openxmlformats.org/drawingml/2006/table">
            <a:tbl>
              <a:tblPr>
                <a:noFill/>
                <a:tableStyleId>{23E7B3AD-0200-4C08-884D-0D713E3854AC}</a:tableStyleId>
              </a:tblPr>
              <a:tblGrid>
                <a:gridCol w="1343025"/>
                <a:gridCol w="1066800"/>
                <a:gridCol w="923925"/>
                <a:gridCol w="1349300"/>
              </a:tblGrid>
              <a:tr h="180975">
                <a:tc>
                  <a:txBody>
                    <a:bodyPr/>
                    <a:lstStyle/>
                    <a:p>
                      <a:pPr indent="0" lvl="0" marL="0" rtl="0" algn="ctr">
                        <a:spcBef>
                          <a:spcPts val="0"/>
                        </a:spcBef>
                        <a:spcAft>
                          <a:spcPts val="0"/>
                        </a:spcAft>
                        <a:buNone/>
                      </a:pPr>
                      <a:r>
                        <a:rPr b="1" lang="en-US" sz="1100">
                          <a:latin typeface="Calibri"/>
                          <a:ea typeface="Calibri"/>
                          <a:cs typeface="Calibri"/>
                          <a:sym typeface="Calibri"/>
                        </a:rPr>
                        <a:t>Sum of Expense (INR)</a:t>
                      </a:r>
                      <a:endParaRPr b="1" sz="1100">
                        <a:latin typeface="Calibri"/>
                        <a:ea typeface="Calibri"/>
                        <a:cs typeface="Calibri"/>
                        <a:sym typeface="Calibri"/>
                      </a:endParaRPr>
                    </a:p>
                  </a:txBody>
                  <a:tcPr marT="91425" marB="91425" marR="91425" marL="91425">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Column Labels</a:t>
                      </a:r>
                      <a:endParaRPr b="1" sz="1100">
                        <a:latin typeface="Calibri"/>
                        <a:ea typeface="Calibri"/>
                        <a:cs typeface="Calibri"/>
                        <a:sym typeface="Calibri"/>
                      </a:endParaRPr>
                    </a:p>
                  </a:txBody>
                  <a:tcPr marT="91425" marB="91425" marR="91425" marL="91425">
                    <a:solidFill>
                      <a:srgbClr val="DDEBF7"/>
                    </a:solidFill>
                  </a:tcPr>
                </a:tc>
                <a:tc>
                  <a:txBody>
                    <a:bodyPr/>
                    <a:lstStyle/>
                    <a:p>
                      <a:pPr indent="0" lvl="0" marL="0" rtl="0" algn="ctr">
                        <a:spcBef>
                          <a:spcPts val="0"/>
                        </a:spcBef>
                        <a:spcAft>
                          <a:spcPts val="0"/>
                        </a:spcAft>
                        <a:buNone/>
                      </a:pPr>
                      <a:r>
                        <a:t/>
                      </a:r>
                      <a:endParaRPr/>
                    </a:p>
                  </a:txBody>
                  <a:tcPr marT="91425" marB="91425" marR="91425" marL="91425">
                    <a:solidFill>
                      <a:srgbClr val="DDEBF7"/>
                    </a:solidFill>
                  </a:tcPr>
                </a:tc>
                <a:tc>
                  <a:txBody>
                    <a:bodyPr/>
                    <a:lstStyle/>
                    <a:p>
                      <a:pPr indent="0" lvl="0" marL="0" rtl="0" algn="ctr">
                        <a:spcBef>
                          <a:spcPts val="0"/>
                        </a:spcBef>
                        <a:spcAft>
                          <a:spcPts val="0"/>
                        </a:spcAft>
                        <a:buNone/>
                      </a:pPr>
                      <a:r>
                        <a:t/>
                      </a:r>
                      <a:endParaRPr/>
                    </a:p>
                  </a:txBody>
                  <a:tcPr marT="91425" marB="91425" marR="91425" marL="91425">
                    <a:solidFill>
                      <a:srgbClr val="DDEBF7"/>
                    </a:solidFill>
                  </a:tcPr>
                </a:tc>
              </a:tr>
              <a:tr h="180975">
                <a:tc>
                  <a:txBody>
                    <a:bodyPr/>
                    <a:lstStyle/>
                    <a:p>
                      <a:pPr indent="0" lvl="0" marL="0" rtl="0" algn="ctr">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Entertainment</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Ticket and Bills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180975">
                <a:tc>
                  <a:txBody>
                    <a:bodyPr/>
                    <a:lstStyle/>
                    <a:p>
                      <a:pPr indent="0" lvl="0" marL="0" rtl="0" algn="ctr">
                        <a:spcBef>
                          <a:spcPts val="0"/>
                        </a:spcBef>
                        <a:spcAft>
                          <a:spcPts val="0"/>
                        </a:spcAft>
                        <a:buNone/>
                      </a:pPr>
                      <a:r>
                        <a:rPr lang="en-US"/>
                        <a:t>Electricity bill</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spcBef>
                          <a:spcPts val="0"/>
                        </a:spcBef>
                        <a:spcAft>
                          <a:spcPts val="0"/>
                        </a:spcAft>
                        <a:buNone/>
                      </a:pPr>
                      <a:r>
                        <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lnSpc>
                          <a:spcPct val="115000"/>
                        </a:lnSpc>
                        <a:spcBef>
                          <a:spcPts val="0"/>
                        </a:spcBef>
                        <a:spcAft>
                          <a:spcPts val="0"/>
                        </a:spcAft>
                        <a:buNone/>
                      </a:pPr>
                      <a:r>
                        <a:rPr lang="en-US"/>
                        <a:t>370</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lnSpc>
                          <a:spcPct val="115000"/>
                        </a:lnSpc>
                        <a:spcBef>
                          <a:spcPts val="0"/>
                        </a:spcBef>
                        <a:spcAft>
                          <a:spcPts val="0"/>
                        </a:spcAft>
                        <a:buNone/>
                      </a:pPr>
                      <a:r>
                        <a:rPr lang="en-US"/>
                        <a:t>370</a:t>
                      </a:r>
                      <a:endParaRPr/>
                    </a:p>
                  </a:txBody>
                  <a:tcPr marT="91425" marB="91425" marR="91425" marL="91425">
                    <a:lnT cap="flat" cmpd="sng" w="7625">
                      <a:solidFill>
                        <a:srgbClr val="9BC2E6"/>
                      </a:solidFill>
                      <a:prstDash val="solid"/>
                      <a:round/>
                      <a:headEnd len="sm" w="sm" type="none"/>
                      <a:tailEnd len="sm" w="sm" type="none"/>
                    </a:lnT>
                    <a:noFill/>
                  </a:tcPr>
                </a:tc>
              </a:tr>
              <a:tr h="180975">
                <a:tc>
                  <a:txBody>
                    <a:bodyPr/>
                    <a:lstStyle/>
                    <a:p>
                      <a:pPr indent="0" lvl="0" marL="0" rtl="0" algn="ctr">
                        <a:spcBef>
                          <a:spcPts val="0"/>
                        </a:spcBef>
                        <a:spcAft>
                          <a:spcPts val="0"/>
                        </a:spcAft>
                        <a:buNone/>
                      </a:pPr>
                      <a:r>
                        <a:rPr lang="en-US"/>
                        <a:t>Gas</a:t>
                      </a:r>
                      <a:endParaRPr/>
                    </a:p>
                  </a:txBody>
                  <a:tcPr marT="91425" marB="91425" marR="91425" marL="91425">
                    <a:noFill/>
                  </a:tcPr>
                </a:tc>
                <a:tc>
                  <a:txBody>
                    <a:bodyPr/>
                    <a:lstStyle/>
                    <a:p>
                      <a:pPr indent="0" lvl="0" marL="0" rtl="0" algn="ctr">
                        <a:spcBef>
                          <a:spcPts val="0"/>
                        </a:spcBef>
                        <a:spcAft>
                          <a:spcPts val="0"/>
                        </a:spcAft>
                        <a:buNone/>
                      </a:pPr>
                      <a:r>
                        <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850</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850</a:t>
                      </a:r>
                      <a:endParaRPr/>
                    </a:p>
                  </a:txBody>
                  <a:tcPr marT="91425" marB="91425" marR="91425" marL="91425">
                    <a:noFill/>
                  </a:tcPr>
                </a:tc>
              </a:tr>
              <a:tr h="180975">
                <a:tc>
                  <a:txBody>
                    <a:bodyPr/>
                    <a:lstStyle/>
                    <a:p>
                      <a:pPr indent="0" lvl="0" marL="0" rtl="0" algn="ctr">
                        <a:spcBef>
                          <a:spcPts val="0"/>
                        </a:spcBef>
                        <a:spcAft>
                          <a:spcPts val="0"/>
                        </a:spcAft>
                        <a:buNone/>
                      </a:pPr>
                      <a:r>
                        <a:rPr lang="en-US"/>
                        <a:t>House help</a:t>
                      </a:r>
                      <a:endParaRPr/>
                    </a:p>
                  </a:txBody>
                  <a:tcPr marT="91425" marB="91425" marR="91425" marL="91425">
                    <a:noFill/>
                  </a:tcPr>
                </a:tc>
                <a:tc>
                  <a:txBody>
                    <a:bodyPr/>
                    <a:lstStyle/>
                    <a:p>
                      <a:pPr indent="0" lvl="0" marL="0" rtl="0" algn="ctr">
                        <a:spcBef>
                          <a:spcPts val="0"/>
                        </a:spcBef>
                        <a:spcAft>
                          <a:spcPts val="0"/>
                        </a:spcAft>
                        <a:buNone/>
                      </a:pPr>
                      <a:r>
                        <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1000</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1000</a:t>
                      </a:r>
                      <a:endParaRPr/>
                    </a:p>
                  </a:txBody>
                  <a:tcPr marT="91425" marB="91425" marR="91425" marL="91425">
                    <a:noFill/>
                  </a:tcPr>
                </a:tc>
              </a:tr>
              <a:tr h="180975">
                <a:tc>
                  <a:txBody>
                    <a:bodyPr/>
                    <a:lstStyle/>
                    <a:p>
                      <a:pPr indent="0" lvl="0" marL="0" rtl="0" algn="ctr">
                        <a:spcBef>
                          <a:spcPts val="0"/>
                        </a:spcBef>
                        <a:spcAft>
                          <a:spcPts val="0"/>
                        </a:spcAft>
                        <a:buNone/>
                      </a:pPr>
                      <a:r>
                        <a:rPr lang="en-US"/>
                        <a:t>Movie</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1000</a:t>
                      </a:r>
                      <a:endParaRPr/>
                    </a:p>
                  </a:txBody>
                  <a:tcPr marT="91425" marB="91425" marR="91425" marL="91425">
                    <a:noFill/>
                  </a:tcPr>
                </a:tc>
                <a:tc>
                  <a:txBody>
                    <a:bodyPr/>
                    <a:lstStyle/>
                    <a:p>
                      <a:pPr indent="0" lvl="0" marL="0" rtl="0" algn="ctr">
                        <a:spcBef>
                          <a:spcPts val="0"/>
                        </a:spcBef>
                        <a:spcAft>
                          <a:spcPts val="0"/>
                        </a:spcAft>
                        <a:buNone/>
                      </a:pPr>
                      <a:r>
                        <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1000</a:t>
                      </a:r>
                      <a:endParaRPr/>
                    </a:p>
                  </a:txBody>
                  <a:tcPr marT="91425" marB="91425" marR="91425" marL="91425">
                    <a:noFill/>
                  </a:tcPr>
                </a:tc>
              </a:tr>
              <a:tr h="352425">
                <a:tc>
                  <a:txBody>
                    <a:bodyPr/>
                    <a:lstStyle/>
                    <a:p>
                      <a:pPr indent="0" lvl="0" marL="0" rtl="0" algn="ctr">
                        <a:spcBef>
                          <a:spcPts val="0"/>
                        </a:spcBef>
                        <a:spcAft>
                          <a:spcPts val="0"/>
                        </a:spcAft>
                        <a:buNone/>
                      </a:pPr>
                      <a:r>
                        <a:rPr lang="en-US"/>
                        <a:t>Railway monthly ticket</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spcBef>
                          <a:spcPts val="0"/>
                        </a:spcBef>
                        <a:spcAft>
                          <a:spcPts val="0"/>
                        </a:spcAft>
                        <a:buNone/>
                      </a:pPr>
                      <a:r>
                        <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350</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350</a:t>
                      </a:r>
                      <a:endParaRPr/>
                    </a:p>
                  </a:txBody>
                  <a:tcPr marT="91425" marB="91425" marR="91425" marL="91425">
                    <a:lnB cap="flat" cmpd="sng" w="7625">
                      <a:solidFill>
                        <a:srgbClr val="9BC2E6"/>
                      </a:solidFill>
                      <a:prstDash val="solid"/>
                      <a:round/>
                      <a:headEnd len="sm" w="sm" type="none"/>
                      <a:tailEnd len="sm" w="sm" type="none"/>
                    </a:lnB>
                    <a:noFill/>
                  </a:tcPr>
                </a:tc>
              </a:tr>
              <a:tr h="180975">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1000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2570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3570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193" name="Google Shape;193;p19"/>
          <p:cNvPicPr preferRelativeResize="0"/>
          <p:nvPr/>
        </p:nvPicPr>
        <p:blipFill>
          <a:blip r:embed="rId3">
            <a:alphaModFix/>
          </a:blip>
          <a:stretch>
            <a:fillRect/>
          </a:stretch>
        </p:blipFill>
        <p:spPr>
          <a:xfrm>
            <a:off x="5073575" y="1138725"/>
            <a:ext cx="5782700" cy="3748800"/>
          </a:xfrm>
          <a:prstGeom prst="rect">
            <a:avLst/>
          </a:prstGeom>
          <a:noFill/>
          <a:ln>
            <a:noFill/>
          </a:ln>
        </p:spPr>
      </p:pic>
      <p:sp>
        <p:nvSpPr>
          <p:cNvPr id="194" name="Google Shape;194;p19"/>
          <p:cNvSpPr txBox="1"/>
          <p:nvPr/>
        </p:nvSpPr>
        <p:spPr>
          <a:xfrm>
            <a:off x="254550" y="5474700"/>
            <a:ext cx="7473600" cy="1002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US">
                <a:solidFill>
                  <a:schemeClr val="dk1"/>
                </a:solidFill>
              </a:rPr>
              <a:t>The chart visually shows that Entertainment spending is entirely on movies (₹1,000), while Tickets &amp; Bills expenses are mainly on house help (₹1,000), gas (₹850), electricity bill (₹370), and railway monthly ticket (₹350).</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0"/>
          <p:cNvPicPr preferRelativeResize="0"/>
          <p:nvPr/>
        </p:nvPicPr>
        <p:blipFill>
          <a:blip r:embed="rId3">
            <a:alphaModFix/>
          </a:blip>
          <a:stretch>
            <a:fillRect/>
          </a:stretch>
        </p:blipFill>
        <p:spPr>
          <a:xfrm>
            <a:off x="220675" y="1051775"/>
            <a:ext cx="6065826" cy="4103500"/>
          </a:xfrm>
          <a:prstGeom prst="rect">
            <a:avLst/>
          </a:prstGeom>
          <a:noFill/>
          <a:ln>
            <a:noFill/>
          </a:ln>
        </p:spPr>
      </p:pic>
      <p:pic>
        <p:nvPicPr>
          <p:cNvPr id="201" name="Google Shape;201;p20"/>
          <p:cNvPicPr preferRelativeResize="0"/>
          <p:nvPr/>
        </p:nvPicPr>
        <p:blipFill>
          <a:blip r:embed="rId4">
            <a:alphaModFix/>
          </a:blip>
          <a:stretch>
            <a:fillRect/>
          </a:stretch>
        </p:blipFill>
        <p:spPr>
          <a:xfrm>
            <a:off x="6433925" y="1051775"/>
            <a:ext cx="4716900" cy="4103500"/>
          </a:xfrm>
          <a:prstGeom prst="rect">
            <a:avLst/>
          </a:prstGeom>
          <a:noFill/>
          <a:ln>
            <a:noFill/>
          </a:ln>
        </p:spPr>
      </p:pic>
      <p:sp>
        <p:nvSpPr>
          <p:cNvPr id="202" name="Google Shape;202;p20"/>
          <p:cNvSpPr txBox="1"/>
          <p:nvPr/>
        </p:nvSpPr>
        <p:spPr>
          <a:xfrm>
            <a:off x="918850" y="0"/>
            <a:ext cx="8256300" cy="863100"/>
          </a:xfrm>
          <a:prstGeom prst="rect">
            <a:avLst/>
          </a:prstGeom>
          <a:noFill/>
          <a:ln>
            <a:noFill/>
          </a:ln>
        </p:spPr>
        <p:txBody>
          <a:bodyPr anchorCtr="0" anchor="t" bIns="91425" lIns="91425" spcFirstLastPara="1" rIns="91425" wrap="square" tIns="91425">
            <a:spAutoFit/>
          </a:bodyPr>
          <a:lstStyle/>
          <a:p>
            <a:pPr indent="-285750" lvl="0" marL="285750" rtl="0" algn="l">
              <a:lnSpc>
                <a:spcPct val="115000"/>
              </a:lnSpc>
              <a:spcBef>
                <a:spcPts val="0"/>
              </a:spcBef>
              <a:spcAft>
                <a:spcPts val="0"/>
              </a:spcAft>
              <a:buNone/>
            </a:pPr>
            <a:r>
              <a:rPr b="1" lang="en-US" sz="2050">
                <a:solidFill>
                  <a:schemeClr val="dk1"/>
                </a:solidFill>
              </a:rPr>
              <a:t>3. a)How many times money has been spent against different items of each category (Pivot Table)</a:t>
            </a:r>
            <a:endParaRPr b="1" sz="2050"/>
          </a:p>
        </p:txBody>
      </p:sp>
      <p:sp>
        <p:nvSpPr>
          <p:cNvPr id="203" name="Google Shape;203;p20"/>
          <p:cNvSpPr txBox="1"/>
          <p:nvPr/>
        </p:nvSpPr>
        <p:spPr>
          <a:xfrm>
            <a:off x="381000" y="5527400"/>
            <a:ext cx="7505700" cy="1055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US">
                <a:solidFill>
                  <a:schemeClr val="dk1"/>
                </a:solidFill>
              </a:rPr>
              <a:t>The frequency analysis shows that money was spent most often on Grocery items (15 times), followed by Food (6 times), Entertainment and Ticket &amp; Bills (4 times each), Shopping (2 times), while Doctor &amp; Medicine and Miscellaneous were spent only once.</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nvSpPr>
        <p:spPr>
          <a:xfrm>
            <a:off x="916350" y="0"/>
            <a:ext cx="8739900" cy="896100"/>
          </a:xfrm>
          <a:prstGeom prst="rect">
            <a:avLst/>
          </a:prstGeom>
          <a:noFill/>
          <a:ln>
            <a:noFill/>
          </a:ln>
        </p:spPr>
        <p:txBody>
          <a:bodyPr anchorCtr="0" anchor="t" bIns="91425" lIns="91425" spcFirstLastPara="1" rIns="91425" wrap="square" tIns="91425">
            <a:spAutoFit/>
          </a:bodyPr>
          <a:lstStyle/>
          <a:p>
            <a:pPr indent="-285750" lvl="0" marL="285750" rtl="0" algn="l">
              <a:lnSpc>
                <a:spcPct val="115000"/>
              </a:lnSpc>
              <a:spcBef>
                <a:spcPts val="0"/>
              </a:spcBef>
              <a:spcAft>
                <a:spcPts val="0"/>
              </a:spcAft>
              <a:buNone/>
            </a:pPr>
            <a:r>
              <a:rPr b="1" lang="en-US" sz="2150">
                <a:solidFill>
                  <a:schemeClr val="dk1"/>
                </a:solidFill>
              </a:rPr>
              <a:t>3. b)Filter the data to display the data for Grocery items and Shopping items?</a:t>
            </a:r>
            <a:endParaRPr b="1"/>
          </a:p>
        </p:txBody>
      </p:sp>
      <p:pic>
        <p:nvPicPr>
          <p:cNvPr id="210" name="Google Shape;210;p21"/>
          <p:cNvPicPr preferRelativeResize="0"/>
          <p:nvPr/>
        </p:nvPicPr>
        <p:blipFill>
          <a:blip r:embed="rId3">
            <a:alphaModFix/>
          </a:blip>
          <a:stretch>
            <a:fillRect/>
          </a:stretch>
        </p:blipFill>
        <p:spPr>
          <a:xfrm>
            <a:off x="5554717" y="1060750"/>
            <a:ext cx="5609334" cy="4107849"/>
          </a:xfrm>
          <a:prstGeom prst="rect">
            <a:avLst/>
          </a:prstGeom>
          <a:noFill/>
          <a:ln>
            <a:noFill/>
          </a:ln>
        </p:spPr>
      </p:pic>
      <p:pic>
        <p:nvPicPr>
          <p:cNvPr id="211" name="Google Shape;211;p21"/>
          <p:cNvPicPr preferRelativeResize="0"/>
          <p:nvPr/>
        </p:nvPicPr>
        <p:blipFill>
          <a:blip r:embed="rId4">
            <a:alphaModFix/>
          </a:blip>
          <a:stretch>
            <a:fillRect/>
          </a:stretch>
        </p:blipFill>
        <p:spPr>
          <a:xfrm>
            <a:off x="381000" y="1014400"/>
            <a:ext cx="4906050" cy="4154188"/>
          </a:xfrm>
          <a:prstGeom prst="rect">
            <a:avLst/>
          </a:prstGeom>
          <a:noFill/>
          <a:ln>
            <a:noFill/>
          </a:ln>
        </p:spPr>
      </p:pic>
      <p:sp>
        <p:nvSpPr>
          <p:cNvPr id="212" name="Google Shape;212;p21"/>
          <p:cNvSpPr txBox="1"/>
          <p:nvPr/>
        </p:nvSpPr>
        <p:spPr>
          <a:xfrm>
            <a:off x="293075" y="5168600"/>
            <a:ext cx="7690500" cy="1524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a:solidFill>
                  <a:schemeClr val="dk1"/>
                </a:solidFill>
              </a:rPr>
              <a:t>After applying the filter, the analysis shows that Grocery items were purchased a total of 15 times, with vegetables (5 times), fruits (4 times), bread &amp; bakery (3 times), and beverages, foodgrains &amp; cereals, and oil &amp; spices (1 time each), indicating frequent day-to-day spending on essentials. In contrast, Shopping items were purchased only 2 times, specifically for shoes (1 time) and T-shirt &amp; jeans (1 time), showing that shopping expenses are less frequent and more occasional in nature.</a:t>
            </a:r>
            <a:endParaRPr>
              <a:solidFill>
                <a:schemeClr val="dk1"/>
              </a:solidFill>
            </a:endParaRPr>
          </a:p>
          <a:p>
            <a:pPr indent="0" lvl="0" marL="0" rtl="0" algn="just">
              <a:spcBef>
                <a:spcPts val="1200"/>
              </a:spcBef>
              <a:spcAft>
                <a:spcPts val="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txBox="1"/>
          <p:nvPr/>
        </p:nvSpPr>
        <p:spPr>
          <a:xfrm>
            <a:off x="902200" y="0"/>
            <a:ext cx="8794200" cy="896100"/>
          </a:xfrm>
          <a:prstGeom prst="rect">
            <a:avLst/>
          </a:prstGeom>
          <a:noFill/>
          <a:ln>
            <a:noFill/>
          </a:ln>
        </p:spPr>
        <p:txBody>
          <a:bodyPr anchorCtr="0" anchor="t" bIns="91425" lIns="91425" spcFirstLastPara="1" rIns="91425" wrap="square" tIns="91425">
            <a:spAutoFit/>
          </a:bodyPr>
          <a:lstStyle/>
          <a:p>
            <a:pPr indent="-285750" lvl="0" marL="285750" rtl="0" algn="l">
              <a:lnSpc>
                <a:spcPct val="115000"/>
              </a:lnSpc>
              <a:spcBef>
                <a:spcPts val="0"/>
              </a:spcBef>
              <a:spcAft>
                <a:spcPts val="0"/>
              </a:spcAft>
              <a:buNone/>
            </a:pPr>
            <a:r>
              <a:rPr b="1" lang="en-US" sz="2150">
                <a:solidFill>
                  <a:schemeClr val="dk1"/>
                </a:solidFill>
              </a:rPr>
              <a:t>4. a)</a:t>
            </a:r>
            <a:r>
              <a:rPr b="1" lang="en-US" sz="2150">
                <a:solidFill>
                  <a:schemeClr val="dk1"/>
                </a:solidFill>
              </a:rPr>
              <a:t>What amount is spent on each item of the categories with highest and 2nd highest expense amount </a:t>
            </a:r>
            <a:r>
              <a:rPr b="1" lang="en-US" sz="2150">
                <a:solidFill>
                  <a:schemeClr val="dk1"/>
                </a:solidFill>
              </a:rPr>
              <a:t>(Pivot Table)</a:t>
            </a:r>
            <a:endParaRPr b="1"/>
          </a:p>
        </p:txBody>
      </p:sp>
      <p:pic>
        <p:nvPicPr>
          <p:cNvPr id="219" name="Google Shape;219;p22"/>
          <p:cNvPicPr preferRelativeResize="0"/>
          <p:nvPr/>
        </p:nvPicPr>
        <p:blipFill>
          <a:blip r:embed="rId3">
            <a:alphaModFix/>
          </a:blip>
          <a:stretch>
            <a:fillRect/>
          </a:stretch>
        </p:blipFill>
        <p:spPr>
          <a:xfrm>
            <a:off x="152400" y="2487550"/>
            <a:ext cx="8906150" cy="2044825"/>
          </a:xfrm>
          <a:prstGeom prst="rect">
            <a:avLst/>
          </a:prstGeom>
          <a:noFill/>
          <a:ln>
            <a:noFill/>
          </a:ln>
        </p:spPr>
      </p:pic>
      <p:sp>
        <p:nvSpPr>
          <p:cNvPr id="220" name="Google Shape;220;p22"/>
          <p:cNvSpPr txBox="1"/>
          <p:nvPr/>
        </p:nvSpPr>
        <p:spPr>
          <a:xfrm>
            <a:off x="228600" y="5064350"/>
            <a:ext cx="7658100" cy="1213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The category with the highest total expense is Shopping, where the amount spent on the item “T-shirt and Jeans” is ₹2,500, while the second-highest expense category is Grocery, in which the amount spent on the item “Vegetables” is ₹1,690. Together, these two items account for a combined expense of ₹4,190.</a:t>
            </a:r>
            <a:endParaRPr>
              <a:solidFill>
                <a:schemeClr val="dk1"/>
              </a:solidFill>
            </a:endParaRPr>
          </a:p>
        </p:txBody>
      </p:sp>
      <p:pic>
        <p:nvPicPr>
          <p:cNvPr id="221" name="Google Shape;221;p22" title="21.jpeg"/>
          <p:cNvPicPr preferRelativeResize="0"/>
          <p:nvPr/>
        </p:nvPicPr>
        <p:blipFill>
          <a:blip r:embed="rId4">
            <a:alphaModFix/>
          </a:blip>
          <a:stretch>
            <a:fillRect/>
          </a:stretch>
        </p:blipFill>
        <p:spPr>
          <a:xfrm>
            <a:off x="176225" y="993550"/>
            <a:ext cx="8662975" cy="121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nvSpPr>
        <p:spPr>
          <a:xfrm>
            <a:off x="897950" y="0"/>
            <a:ext cx="8791200" cy="863100"/>
          </a:xfrm>
          <a:prstGeom prst="rect">
            <a:avLst/>
          </a:prstGeom>
          <a:noFill/>
          <a:ln>
            <a:noFill/>
          </a:ln>
        </p:spPr>
        <p:txBody>
          <a:bodyPr anchorCtr="0" anchor="t" bIns="91425" lIns="91425" spcFirstLastPara="1" rIns="91425" wrap="square" tIns="91425">
            <a:spAutoFit/>
          </a:bodyPr>
          <a:lstStyle/>
          <a:p>
            <a:pPr indent="-285750" lvl="0" marL="285750" rtl="0" algn="l">
              <a:lnSpc>
                <a:spcPct val="115000"/>
              </a:lnSpc>
              <a:spcBef>
                <a:spcPts val="0"/>
              </a:spcBef>
              <a:spcAft>
                <a:spcPts val="0"/>
              </a:spcAft>
              <a:buNone/>
            </a:pPr>
            <a:r>
              <a:rPr b="1" lang="en-US" sz="2050">
                <a:solidFill>
                  <a:schemeClr val="dk1"/>
                </a:solidFill>
              </a:rPr>
              <a:t>4. b)Visually represent the data with data bars (Conditional Formatting)</a:t>
            </a:r>
            <a:endParaRPr b="1" sz="2050"/>
          </a:p>
        </p:txBody>
      </p:sp>
      <p:pic>
        <p:nvPicPr>
          <p:cNvPr id="228" name="Google Shape;228;p23"/>
          <p:cNvPicPr preferRelativeResize="0"/>
          <p:nvPr/>
        </p:nvPicPr>
        <p:blipFill>
          <a:blip r:embed="rId3">
            <a:alphaModFix/>
          </a:blip>
          <a:stretch>
            <a:fillRect/>
          </a:stretch>
        </p:blipFill>
        <p:spPr>
          <a:xfrm>
            <a:off x="190500" y="1013200"/>
            <a:ext cx="5905500" cy="3908375"/>
          </a:xfrm>
          <a:prstGeom prst="rect">
            <a:avLst/>
          </a:prstGeom>
          <a:noFill/>
          <a:ln>
            <a:noFill/>
          </a:ln>
        </p:spPr>
      </p:pic>
      <p:pic>
        <p:nvPicPr>
          <p:cNvPr id="229" name="Google Shape;229;p23"/>
          <p:cNvPicPr preferRelativeResize="0"/>
          <p:nvPr/>
        </p:nvPicPr>
        <p:blipFill>
          <a:blip r:embed="rId4">
            <a:alphaModFix/>
          </a:blip>
          <a:stretch>
            <a:fillRect/>
          </a:stretch>
        </p:blipFill>
        <p:spPr>
          <a:xfrm>
            <a:off x="6096000" y="1013200"/>
            <a:ext cx="4956275" cy="3908375"/>
          </a:xfrm>
          <a:prstGeom prst="rect">
            <a:avLst/>
          </a:prstGeom>
          <a:noFill/>
          <a:ln>
            <a:noFill/>
          </a:ln>
        </p:spPr>
      </p:pic>
      <p:sp>
        <p:nvSpPr>
          <p:cNvPr id="230" name="Google Shape;230;p23"/>
          <p:cNvSpPr txBox="1"/>
          <p:nvPr/>
        </p:nvSpPr>
        <p:spPr>
          <a:xfrm>
            <a:off x="190500" y="5275500"/>
            <a:ext cx="7666800" cy="1201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The data bars visually highlight the spending pattern across all items, showing that “T-shirt and Jeans” (₹2,500) and “Vegetables” (₹1,690) have the highest expenses, while items such as beverages, chips &amp; fries, and electricity bill have comparatively lower spending, making it easy to identify high and low expense items at a glance.</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4"/>
          <p:cNvSpPr txBox="1"/>
          <p:nvPr/>
        </p:nvSpPr>
        <p:spPr>
          <a:xfrm>
            <a:off x="926550" y="0"/>
            <a:ext cx="10719900" cy="50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50">
                <a:solidFill>
                  <a:schemeClr val="dk1"/>
                </a:solidFill>
              </a:rPr>
              <a:t>5. </a:t>
            </a:r>
            <a:r>
              <a:rPr b="1" lang="en-US" sz="2050">
                <a:solidFill>
                  <a:schemeClr val="dk1"/>
                </a:solidFill>
              </a:rPr>
              <a:t>a) Month-wise trend of expenses (Pivot Table and Chart)</a:t>
            </a:r>
            <a:endParaRPr b="1" sz="2050"/>
          </a:p>
        </p:txBody>
      </p:sp>
      <p:graphicFrame>
        <p:nvGraphicFramePr>
          <p:cNvPr id="237" name="Google Shape;237;p24"/>
          <p:cNvGraphicFramePr/>
          <p:nvPr/>
        </p:nvGraphicFramePr>
        <p:xfrm>
          <a:off x="636700" y="792900"/>
          <a:ext cx="3000000" cy="3000000"/>
        </p:xfrm>
        <a:graphic>
          <a:graphicData uri="http://schemas.openxmlformats.org/drawingml/2006/table">
            <a:tbl>
              <a:tblPr>
                <a:noFill/>
                <a:tableStyleId>{23E7B3AD-0200-4C08-884D-0D713E3854AC}</a:tableStyleId>
              </a:tblPr>
              <a:tblGrid>
                <a:gridCol w="1650500"/>
                <a:gridCol w="2521125"/>
              </a:tblGrid>
              <a:tr h="513725">
                <a:tc>
                  <a:txBody>
                    <a:bodyPr/>
                    <a:lstStyle/>
                    <a:p>
                      <a:pPr indent="0" lvl="0" marL="0" rtl="0" algn="ctr">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Sum of Expense (INR)</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432475">
                <a:tc>
                  <a:txBody>
                    <a:bodyPr/>
                    <a:lstStyle/>
                    <a:p>
                      <a:pPr indent="0" lvl="0" marL="0" rtl="0" algn="ctr">
                        <a:spcBef>
                          <a:spcPts val="0"/>
                        </a:spcBef>
                        <a:spcAft>
                          <a:spcPts val="0"/>
                        </a:spcAft>
                        <a:buNone/>
                      </a:pPr>
                      <a:r>
                        <a:rPr lang="en-US"/>
                        <a:t>January</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lnSpc>
                          <a:spcPct val="115000"/>
                        </a:lnSpc>
                        <a:spcBef>
                          <a:spcPts val="0"/>
                        </a:spcBef>
                        <a:spcAft>
                          <a:spcPts val="0"/>
                        </a:spcAft>
                        <a:buNone/>
                      </a:pPr>
                      <a:r>
                        <a:rPr lang="en-US"/>
                        <a:t>13900</a:t>
                      </a:r>
                      <a:endParaRPr/>
                    </a:p>
                  </a:txBody>
                  <a:tcPr marT="91425" marB="91425" marR="91425" marL="91425">
                    <a:lnT cap="flat" cmpd="sng" w="7625">
                      <a:solidFill>
                        <a:srgbClr val="9BC2E6"/>
                      </a:solidFill>
                      <a:prstDash val="solid"/>
                      <a:round/>
                      <a:headEnd len="sm" w="sm" type="none"/>
                      <a:tailEnd len="sm" w="sm" type="none"/>
                    </a:lnT>
                    <a:noFill/>
                  </a:tcPr>
                </a:tc>
              </a:tr>
              <a:tr h="588200">
                <a:tc>
                  <a:txBody>
                    <a:bodyPr/>
                    <a:lstStyle/>
                    <a:p>
                      <a:pPr indent="0" lvl="0" marL="0" rtl="0" algn="ctr">
                        <a:spcBef>
                          <a:spcPts val="0"/>
                        </a:spcBef>
                        <a:spcAft>
                          <a:spcPts val="0"/>
                        </a:spcAft>
                        <a:buNone/>
                      </a:pPr>
                      <a:r>
                        <a:rPr lang="en-US"/>
                        <a:t>February</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15620</a:t>
                      </a:r>
                      <a:endParaRPr/>
                    </a:p>
                  </a:txBody>
                  <a:tcPr marT="91425" marB="91425" marR="91425" marL="91425">
                    <a:noFill/>
                  </a:tcPr>
                </a:tc>
              </a:tr>
              <a:tr h="432475">
                <a:tc>
                  <a:txBody>
                    <a:bodyPr/>
                    <a:lstStyle/>
                    <a:p>
                      <a:pPr indent="0" lvl="0" marL="0" rtl="0" algn="ctr">
                        <a:spcBef>
                          <a:spcPts val="0"/>
                        </a:spcBef>
                        <a:spcAft>
                          <a:spcPts val="0"/>
                        </a:spcAft>
                        <a:buNone/>
                      </a:pPr>
                      <a:r>
                        <a:rPr lang="en-US"/>
                        <a:t>March</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13140</a:t>
                      </a:r>
                      <a:endParaRPr/>
                    </a:p>
                  </a:txBody>
                  <a:tcPr marT="91425" marB="91425" marR="91425" marL="91425">
                    <a:noFill/>
                  </a:tcPr>
                </a:tc>
              </a:tr>
              <a:tr h="432475">
                <a:tc>
                  <a:txBody>
                    <a:bodyPr/>
                    <a:lstStyle/>
                    <a:p>
                      <a:pPr indent="0" lvl="0" marL="0" rtl="0" algn="ctr">
                        <a:spcBef>
                          <a:spcPts val="0"/>
                        </a:spcBef>
                        <a:spcAft>
                          <a:spcPts val="0"/>
                        </a:spcAft>
                        <a:buNone/>
                      </a:pPr>
                      <a:r>
                        <a:rPr lang="en-US"/>
                        <a:t>April</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14800</a:t>
                      </a:r>
                      <a:endParaRPr/>
                    </a:p>
                  </a:txBody>
                  <a:tcPr marT="91425" marB="91425" marR="91425" marL="91425">
                    <a:noFill/>
                  </a:tcPr>
                </a:tc>
              </a:tr>
              <a:tr h="432475">
                <a:tc>
                  <a:txBody>
                    <a:bodyPr/>
                    <a:lstStyle/>
                    <a:p>
                      <a:pPr indent="0" lvl="0" marL="0" rtl="0" algn="ctr">
                        <a:spcBef>
                          <a:spcPts val="0"/>
                        </a:spcBef>
                        <a:spcAft>
                          <a:spcPts val="0"/>
                        </a:spcAft>
                        <a:buNone/>
                      </a:pPr>
                      <a:r>
                        <a:rPr lang="en-US"/>
                        <a:t>May</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13370</a:t>
                      </a:r>
                      <a:endParaRPr/>
                    </a:p>
                  </a:txBody>
                  <a:tcPr marT="91425" marB="91425" marR="91425" marL="91425">
                    <a:noFill/>
                  </a:tcPr>
                </a:tc>
              </a:tr>
              <a:tr h="432475">
                <a:tc>
                  <a:txBody>
                    <a:bodyPr/>
                    <a:lstStyle/>
                    <a:p>
                      <a:pPr indent="0" lvl="0" marL="0" rtl="0" algn="ctr">
                        <a:spcBef>
                          <a:spcPts val="0"/>
                        </a:spcBef>
                        <a:spcAft>
                          <a:spcPts val="0"/>
                        </a:spcAft>
                        <a:buNone/>
                      </a:pPr>
                      <a:r>
                        <a:rPr lang="en-US"/>
                        <a:t>June</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13560</a:t>
                      </a:r>
                      <a:endParaRPr/>
                    </a:p>
                  </a:txBody>
                  <a:tcPr marT="91425" marB="91425" marR="91425" marL="91425">
                    <a:lnB cap="flat" cmpd="sng" w="7625">
                      <a:solidFill>
                        <a:srgbClr val="9BC2E6"/>
                      </a:solidFill>
                      <a:prstDash val="solid"/>
                      <a:round/>
                      <a:headEnd len="sm" w="sm" type="none"/>
                      <a:tailEnd len="sm" w="sm" type="none"/>
                    </a:lnB>
                    <a:noFill/>
                  </a:tcPr>
                </a:tc>
              </a:tr>
              <a:tr h="375075">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84390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238" name="Google Shape;238;p24"/>
          <p:cNvPicPr preferRelativeResize="0"/>
          <p:nvPr/>
        </p:nvPicPr>
        <p:blipFill>
          <a:blip r:embed="rId3">
            <a:alphaModFix/>
          </a:blip>
          <a:stretch>
            <a:fillRect/>
          </a:stretch>
        </p:blipFill>
        <p:spPr>
          <a:xfrm>
            <a:off x="5026926" y="792900"/>
            <a:ext cx="5746175" cy="3639375"/>
          </a:xfrm>
          <a:prstGeom prst="rect">
            <a:avLst/>
          </a:prstGeom>
          <a:noFill/>
          <a:ln>
            <a:noFill/>
          </a:ln>
        </p:spPr>
      </p:pic>
      <p:sp>
        <p:nvSpPr>
          <p:cNvPr id="239" name="Google Shape;239;p24"/>
          <p:cNvSpPr txBox="1"/>
          <p:nvPr/>
        </p:nvSpPr>
        <p:spPr>
          <a:xfrm>
            <a:off x="668225" y="5187450"/>
            <a:ext cx="7218600" cy="896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The month-wise expense trend shows that the highest spending occurred in February (₹15,620), followed by April (₹14,800), while the lowest spending was in March (₹13,140), indicating fluctuations in expenses across the months.</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5"/>
          <p:cNvSpPr txBox="1"/>
          <p:nvPr/>
        </p:nvSpPr>
        <p:spPr>
          <a:xfrm flipH="1" rot="-2154">
            <a:off x="918774" y="2700"/>
            <a:ext cx="8618702" cy="50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50">
                <a:solidFill>
                  <a:schemeClr val="dk1"/>
                </a:solidFill>
              </a:rPr>
              <a:t>5. b) Find out the month Nitin spent the most?</a:t>
            </a:r>
            <a:endParaRPr b="1" sz="2050"/>
          </a:p>
        </p:txBody>
      </p:sp>
      <p:graphicFrame>
        <p:nvGraphicFramePr>
          <p:cNvPr id="246" name="Google Shape;246;p25"/>
          <p:cNvGraphicFramePr/>
          <p:nvPr/>
        </p:nvGraphicFramePr>
        <p:xfrm>
          <a:off x="217225" y="992325"/>
          <a:ext cx="3000000" cy="3000000"/>
        </p:xfrm>
        <a:graphic>
          <a:graphicData uri="http://schemas.openxmlformats.org/drawingml/2006/table">
            <a:tbl>
              <a:tblPr>
                <a:noFill/>
                <a:tableStyleId>{23E7B3AD-0200-4C08-884D-0D713E3854AC}</a:tableStyleId>
              </a:tblPr>
              <a:tblGrid>
                <a:gridCol w="1656275"/>
                <a:gridCol w="2529900"/>
              </a:tblGrid>
              <a:tr h="330950">
                <a:tc>
                  <a:txBody>
                    <a:bodyPr/>
                    <a:lstStyle/>
                    <a:p>
                      <a:pPr indent="0" lvl="0" marL="0" rtl="0" algn="ctr">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Sum of Expense (INR)</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402125">
                <a:tc>
                  <a:txBody>
                    <a:bodyPr/>
                    <a:lstStyle/>
                    <a:p>
                      <a:pPr indent="0" lvl="0" marL="0" rtl="0" algn="ctr">
                        <a:spcBef>
                          <a:spcPts val="0"/>
                        </a:spcBef>
                        <a:spcAft>
                          <a:spcPts val="0"/>
                        </a:spcAft>
                        <a:buNone/>
                      </a:pPr>
                      <a:r>
                        <a:rPr lang="en-US"/>
                        <a:t>February</a:t>
                      </a:r>
                      <a:endParaRPr/>
                    </a:p>
                  </a:txBody>
                  <a:tcPr marT="91425" marB="91425" marR="91425" marL="91425">
                    <a:lnT cap="flat" cmpd="sng" w="7625">
                      <a:solidFill>
                        <a:srgbClr val="9BC2E6"/>
                      </a:solidFill>
                      <a:prstDash val="solid"/>
                      <a:round/>
                      <a:headEnd len="sm" w="sm" type="none"/>
                      <a:tailEnd len="sm" w="sm" type="none"/>
                    </a:lnT>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15620</a:t>
                      </a:r>
                      <a:endParaRPr/>
                    </a:p>
                  </a:txBody>
                  <a:tcPr marT="91425" marB="91425" marR="91425" marL="91425">
                    <a:lnT cap="flat" cmpd="sng" w="7625">
                      <a:solidFill>
                        <a:srgbClr val="9BC2E6"/>
                      </a:solidFill>
                      <a:prstDash val="solid"/>
                      <a:round/>
                      <a:headEnd len="sm" w="sm" type="none"/>
                      <a:tailEnd len="sm" w="sm" type="none"/>
                    </a:lnT>
                    <a:lnB cap="flat" cmpd="sng" w="7625">
                      <a:solidFill>
                        <a:srgbClr val="9BC2E6"/>
                      </a:solidFill>
                      <a:prstDash val="solid"/>
                      <a:round/>
                      <a:headEnd len="sm" w="sm" type="none"/>
                      <a:tailEnd len="sm" w="sm" type="none"/>
                    </a:lnB>
                    <a:noFill/>
                  </a:tcPr>
                </a:tc>
              </a:tr>
              <a:tr h="446350">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15620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247" name="Google Shape;247;p25"/>
          <p:cNvPicPr preferRelativeResize="0"/>
          <p:nvPr/>
        </p:nvPicPr>
        <p:blipFill>
          <a:blip r:embed="rId3">
            <a:alphaModFix/>
          </a:blip>
          <a:stretch>
            <a:fillRect/>
          </a:stretch>
        </p:blipFill>
        <p:spPr>
          <a:xfrm>
            <a:off x="4568787" y="877350"/>
            <a:ext cx="6208824" cy="4305300"/>
          </a:xfrm>
          <a:prstGeom prst="rect">
            <a:avLst/>
          </a:prstGeom>
          <a:noFill/>
          <a:ln>
            <a:noFill/>
          </a:ln>
        </p:spPr>
      </p:pic>
      <p:sp>
        <p:nvSpPr>
          <p:cNvPr id="248" name="Google Shape;248;p25"/>
          <p:cNvSpPr txBox="1"/>
          <p:nvPr/>
        </p:nvSpPr>
        <p:spPr>
          <a:xfrm>
            <a:off x="381000" y="5767750"/>
            <a:ext cx="6963600" cy="80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solidFill>
                  <a:schemeClr val="dk1"/>
                </a:solidFill>
              </a:rPr>
              <a:t>Nitin spent the most in February, with a total expense of ₹15,620, making it the highest spending month.</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6"/>
          <p:cNvSpPr txBox="1"/>
          <p:nvPr/>
        </p:nvSpPr>
        <p:spPr>
          <a:xfrm>
            <a:off x="918850" y="0"/>
            <a:ext cx="8906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50">
                <a:solidFill>
                  <a:schemeClr val="dk1"/>
                </a:solidFill>
              </a:rPr>
              <a:t>6. a) Category-wise expenses (Pivot Table)?</a:t>
            </a:r>
            <a:endParaRPr b="1" sz="2050">
              <a:solidFill>
                <a:schemeClr val="dk1"/>
              </a:solidFill>
            </a:endParaRPr>
          </a:p>
          <a:p>
            <a:pPr indent="0" lvl="0" marL="0" rtl="0" algn="l">
              <a:spcBef>
                <a:spcPts val="0"/>
              </a:spcBef>
              <a:spcAft>
                <a:spcPts val="0"/>
              </a:spcAft>
              <a:buNone/>
            </a:pPr>
            <a:r>
              <a:rPr lang="en-US" sz="2150">
                <a:solidFill>
                  <a:schemeClr val="dk1"/>
                </a:solidFill>
              </a:rPr>
              <a:t>    </a:t>
            </a:r>
            <a:endParaRPr/>
          </a:p>
        </p:txBody>
      </p:sp>
      <p:graphicFrame>
        <p:nvGraphicFramePr>
          <p:cNvPr id="255" name="Google Shape;255;p26"/>
          <p:cNvGraphicFramePr/>
          <p:nvPr/>
        </p:nvGraphicFramePr>
        <p:xfrm>
          <a:off x="381000" y="901250"/>
          <a:ext cx="3000000" cy="3000000"/>
        </p:xfrm>
        <a:graphic>
          <a:graphicData uri="http://schemas.openxmlformats.org/drawingml/2006/table">
            <a:tbl>
              <a:tblPr>
                <a:noFill/>
                <a:tableStyleId>{23E7B3AD-0200-4C08-884D-0D713E3854AC}</a:tableStyleId>
              </a:tblPr>
              <a:tblGrid>
                <a:gridCol w="1861500"/>
                <a:gridCol w="1975125"/>
              </a:tblGrid>
              <a:tr h="499100">
                <a:tc>
                  <a:txBody>
                    <a:bodyPr/>
                    <a:lstStyle/>
                    <a:p>
                      <a:pPr indent="0" lvl="0" marL="0" rtl="0" algn="ctr">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ctr">
                        <a:spcBef>
                          <a:spcPts val="0"/>
                        </a:spcBef>
                        <a:spcAft>
                          <a:spcPts val="0"/>
                        </a:spcAft>
                        <a:buNone/>
                      </a:pPr>
                      <a:r>
                        <a:rPr b="1" lang="en-US" sz="1100">
                          <a:latin typeface="Calibri"/>
                          <a:ea typeface="Calibri"/>
                          <a:cs typeface="Calibri"/>
                          <a:sym typeface="Calibri"/>
                        </a:rPr>
                        <a:t>Sum of Expense (INR)</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571450">
                <a:tc>
                  <a:txBody>
                    <a:bodyPr/>
                    <a:lstStyle/>
                    <a:p>
                      <a:pPr indent="0" lvl="0" marL="0" rtl="0" algn="ctr">
                        <a:spcBef>
                          <a:spcPts val="0"/>
                        </a:spcBef>
                        <a:spcAft>
                          <a:spcPts val="0"/>
                        </a:spcAft>
                        <a:buNone/>
                      </a:pPr>
                      <a:r>
                        <a:rPr lang="en-US"/>
                        <a:t>Doctor and Medicine</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ctr">
                        <a:lnSpc>
                          <a:spcPct val="115000"/>
                        </a:lnSpc>
                        <a:spcBef>
                          <a:spcPts val="0"/>
                        </a:spcBef>
                        <a:spcAft>
                          <a:spcPts val="0"/>
                        </a:spcAft>
                        <a:buNone/>
                      </a:pPr>
                      <a:r>
                        <a:rPr lang="en-US"/>
                        <a:t>4000</a:t>
                      </a:r>
                      <a:endParaRPr/>
                    </a:p>
                  </a:txBody>
                  <a:tcPr marT="91425" marB="91425" marR="91425" marL="91425">
                    <a:lnT cap="flat" cmpd="sng" w="7625">
                      <a:solidFill>
                        <a:srgbClr val="9BC2E6"/>
                      </a:solidFill>
                      <a:prstDash val="solid"/>
                      <a:round/>
                      <a:headEnd len="sm" w="sm" type="none"/>
                      <a:tailEnd len="sm" w="sm" type="none"/>
                    </a:lnT>
                    <a:noFill/>
                  </a:tcPr>
                </a:tc>
              </a:tr>
              <a:tr h="571450">
                <a:tc>
                  <a:txBody>
                    <a:bodyPr/>
                    <a:lstStyle/>
                    <a:p>
                      <a:pPr indent="0" lvl="0" marL="0" rtl="0" algn="ctr">
                        <a:spcBef>
                          <a:spcPts val="0"/>
                        </a:spcBef>
                        <a:spcAft>
                          <a:spcPts val="0"/>
                        </a:spcAft>
                        <a:buNone/>
                      </a:pPr>
                      <a:r>
                        <a:rPr lang="en-US"/>
                        <a:t>Entertainment</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12000</a:t>
                      </a:r>
                      <a:endParaRPr/>
                    </a:p>
                  </a:txBody>
                  <a:tcPr marT="91425" marB="91425" marR="91425" marL="91425">
                    <a:noFill/>
                  </a:tcPr>
                </a:tc>
              </a:tr>
              <a:tr h="408675">
                <a:tc>
                  <a:txBody>
                    <a:bodyPr/>
                    <a:lstStyle/>
                    <a:p>
                      <a:pPr indent="0" lvl="0" marL="0" rtl="0" algn="ctr">
                        <a:spcBef>
                          <a:spcPts val="0"/>
                        </a:spcBef>
                        <a:spcAft>
                          <a:spcPts val="0"/>
                        </a:spcAft>
                        <a:buNone/>
                      </a:pPr>
                      <a:r>
                        <a:rPr lang="en-US"/>
                        <a:t>Food</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4940</a:t>
                      </a:r>
                      <a:endParaRPr/>
                    </a:p>
                  </a:txBody>
                  <a:tcPr marT="91425" marB="91425" marR="91425" marL="91425">
                    <a:noFill/>
                  </a:tcPr>
                </a:tc>
              </a:tr>
              <a:tr h="408675">
                <a:tc>
                  <a:txBody>
                    <a:bodyPr/>
                    <a:lstStyle/>
                    <a:p>
                      <a:pPr indent="0" lvl="0" marL="0" rtl="0" algn="ctr">
                        <a:spcBef>
                          <a:spcPts val="0"/>
                        </a:spcBef>
                        <a:spcAft>
                          <a:spcPts val="0"/>
                        </a:spcAft>
                        <a:buNone/>
                      </a:pPr>
                      <a:r>
                        <a:rPr lang="en-US"/>
                        <a:t>Grocery</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30990</a:t>
                      </a:r>
                      <a:endParaRPr/>
                    </a:p>
                  </a:txBody>
                  <a:tcPr marT="91425" marB="91425" marR="91425" marL="91425">
                    <a:noFill/>
                  </a:tcPr>
                </a:tc>
              </a:tr>
              <a:tr h="571450">
                <a:tc>
                  <a:txBody>
                    <a:bodyPr/>
                    <a:lstStyle/>
                    <a:p>
                      <a:pPr indent="0" lvl="0" marL="0" rtl="0" algn="ctr">
                        <a:spcBef>
                          <a:spcPts val="0"/>
                        </a:spcBef>
                        <a:spcAft>
                          <a:spcPts val="0"/>
                        </a:spcAft>
                        <a:buNone/>
                      </a:pPr>
                      <a:r>
                        <a:rPr lang="en-US"/>
                        <a:t>Miscellaneous</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7720</a:t>
                      </a:r>
                      <a:endParaRPr/>
                    </a:p>
                  </a:txBody>
                  <a:tcPr marT="91425" marB="91425" marR="91425" marL="91425">
                    <a:noFill/>
                  </a:tcPr>
                </a:tc>
              </a:tr>
              <a:tr h="408675">
                <a:tc>
                  <a:txBody>
                    <a:bodyPr/>
                    <a:lstStyle/>
                    <a:p>
                      <a:pPr indent="0" lvl="0" marL="0" rtl="0" algn="ctr">
                        <a:spcBef>
                          <a:spcPts val="0"/>
                        </a:spcBef>
                        <a:spcAft>
                          <a:spcPts val="0"/>
                        </a:spcAft>
                        <a:buNone/>
                      </a:pPr>
                      <a:r>
                        <a:rPr lang="en-US"/>
                        <a:t>Shopping</a:t>
                      </a:r>
                      <a:endParaRPr/>
                    </a:p>
                  </a:txBody>
                  <a:tcPr marT="91425" marB="91425" marR="91425" marL="91425">
                    <a:noFill/>
                  </a:tcPr>
                </a:tc>
                <a:tc>
                  <a:txBody>
                    <a:bodyPr/>
                    <a:lstStyle/>
                    <a:p>
                      <a:pPr indent="0" lvl="0" marL="0" rtl="0" algn="ctr">
                        <a:lnSpc>
                          <a:spcPct val="115000"/>
                        </a:lnSpc>
                        <a:spcBef>
                          <a:spcPts val="0"/>
                        </a:spcBef>
                        <a:spcAft>
                          <a:spcPts val="0"/>
                        </a:spcAft>
                        <a:buNone/>
                      </a:pPr>
                      <a:r>
                        <a:rPr lang="en-US"/>
                        <a:t>8700</a:t>
                      </a:r>
                      <a:endParaRPr/>
                    </a:p>
                  </a:txBody>
                  <a:tcPr marT="91425" marB="91425" marR="91425" marL="91425">
                    <a:noFill/>
                  </a:tcPr>
                </a:tc>
              </a:tr>
              <a:tr h="571450">
                <a:tc>
                  <a:txBody>
                    <a:bodyPr/>
                    <a:lstStyle/>
                    <a:p>
                      <a:pPr indent="0" lvl="0" marL="0" rtl="0" algn="ctr">
                        <a:spcBef>
                          <a:spcPts val="0"/>
                        </a:spcBef>
                        <a:spcAft>
                          <a:spcPts val="0"/>
                        </a:spcAft>
                        <a:buNone/>
                      </a:pPr>
                      <a:r>
                        <a:rPr lang="en-US"/>
                        <a:t>Ticket and Bills</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US"/>
                        <a:t>16040</a:t>
                      </a:r>
                      <a:endParaRPr/>
                    </a:p>
                  </a:txBody>
                  <a:tcPr marT="91425" marB="91425" marR="91425" marL="91425">
                    <a:lnB cap="flat" cmpd="sng" w="7625">
                      <a:solidFill>
                        <a:srgbClr val="9BC2E6"/>
                      </a:solidFill>
                      <a:prstDash val="solid"/>
                      <a:round/>
                      <a:headEnd len="sm" w="sm" type="none"/>
                      <a:tailEnd len="sm" w="sm" type="none"/>
                    </a:lnB>
                    <a:noFill/>
                  </a:tcPr>
                </a:tc>
              </a:tr>
              <a:tr h="354400">
                <a:tc>
                  <a:txBody>
                    <a:bodyPr/>
                    <a:lstStyle/>
                    <a:p>
                      <a:pPr indent="0" lvl="0" marL="0" rtl="0" algn="ctr">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ctr">
                        <a:lnSpc>
                          <a:spcPct val="115000"/>
                        </a:lnSpc>
                        <a:spcBef>
                          <a:spcPts val="0"/>
                        </a:spcBef>
                        <a:spcAft>
                          <a:spcPts val="0"/>
                        </a:spcAft>
                        <a:buNone/>
                      </a:pPr>
                      <a:r>
                        <a:rPr b="1" lang="en-US" sz="1100">
                          <a:latin typeface="Calibri"/>
                          <a:ea typeface="Calibri"/>
                          <a:cs typeface="Calibri"/>
                          <a:sym typeface="Calibri"/>
                        </a:rPr>
                        <a:t>84390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256" name="Google Shape;256;p26"/>
          <p:cNvPicPr preferRelativeResize="0"/>
          <p:nvPr/>
        </p:nvPicPr>
        <p:blipFill>
          <a:blip r:embed="rId3">
            <a:alphaModFix/>
          </a:blip>
          <a:stretch>
            <a:fillRect/>
          </a:stretch>
        </p:blipFill>
        <p:spPr>
          <a:xfrm>
            <a:off x="4468900" y="919300"/>
            <a:ext cx="6507150" cy="4413650"/>
          </a:xfrm>
          <a:prstGeom prst="rect">
            <a:avLst/>
          </a:prstGeom>
          <a:noFill/>
          <a:ln>
            <a:noFill/>
          </a:ln>
        </p:spPr>
      </p:pic>
      <p:sp>
        <p:nvSpPr>
          <p:cNvPr id="257" name="Google Shape;257;p26"/>
          <p:cNvSpPr txBox="1"/>
          <p:nvPr/>
        </p:nvSpPr>
        <p:spPr>
          <a:xfrm>
            <a:off x="381000" y="5645700"/>
            <a:ext cx="7429500" cy="831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a:solidFill>
                  <a:schemeClr val="dk1"/>
                </a:solidFill>
              </a:rPr>
              <a:t>The category-wise expense analysis shows that Grocery has the highest total spending (₹30,990), followed by Ticket &amp; Bills (₹16,040) and Entertainment (₹12,000), while Doctor &amp; Medicine has the lowest expense (₹4,000).</a:t>
            </a:r>
            <a:endParaRPr>
              <a:solidFill>
                <a:schemeClr val="dk1"/>
              </a:solidFill>
            </a:endParaRPr>
          </a:p>
          <a:p>
            <a:pPr indent="0" lvl="0" marL="0" rtl="0" algn="just">
              <a:spcBef>
                <a:spcPts val="1200"/>
              </a:spcBef>
              <a:spcAft>
                <a:spcPts val="0"/>
              </a:spcAft>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7"/>
          <p:cNvSpPr txBox="1"/>
          <p:nvPr/>
        </p:nvSpPr>
        <p:spPr>
          <a:xfrm>
            <a:off x="885550" y="0"/>
            <a:ext cx="89556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50">
                <a:solidFill>
                  <a:schemeClr val="dk1"/>
                </a:solidFill>
              </a:rPr>
              <a:t>6. b) Visually represent it with data bars to display categories with the highest and lowest expense amount</a:t>
            </a:r>
            <a:endParaRPr b="1" sz="2050"/>
          </a:p>
        </p:txBody>
      </p:sp>
      <p:graphicFrame>
        <p:nvGraphicFramePr>
          <p:cNvPr id="264" name="Google Shape;264;p27"/>
          <p:cNvGraphicFramePr/>
          <p:nvPr/>
        </p:nvGraphicFramePr>
        <p:xfrm>
          <a:off x="285375" y="1023925"/>
          <a:ext cx="3000000" cy="3000000"/>
        </p:xfrm>
        <a:graphic>
          <a:graphicData uri="http://schemas.openxmlformats.org/drawingml/2006/table">
            <a:tbl>
              <a:tblPr>
                <a:noFill/>
                <a:tableStyleId>{23E7B3AD-0200-4C08-884D-0D713E3854AC}</a:tableStyleId>
              </a:tblPr>
              <a:tblGrid>
                <a:gridCol w="1950425"/>
                <a:gridCol w="2069500"/>
              </a:tblGrid>
              <a:tr h="249800">
                <a:tc>
                  <a:txBody>
                    <a:bodyPr/>
                    <a:lstStyle/>
                    <a:p>
                      <a:pPr indent="0" lvl="0" marL="0" rtl="0" algn="l">
                        <a:spcBef>
                          <a:spcPts val="0"/>
                        </a:spcBef>
                        <a:spcAft>
                          <a:spcPts val="0"/>
                        </a:spcAft>
                        <a:buNone/>
                      </a:pPr>
                      <a:r>
                        <a:rPr b="1" lang="en-US" sz="1100">
                          <a:latin typeface="Calibri"/>
                          <a:ea typeface="Calibri"/>
                          <a:cs typeface="Calibri"/>
                          <a:sym typeface="Calibri"/>
                        </a:rPr>
                        <a:t>Row Labels</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c>
                  <a:txBody>
                    <a:bodyPr/>
                    <a:lstStyle/>
                    <a:p>
                      <a:pPr indent="0" lvl="0" marL="0" rtl="0" algn="l">
                        <a:spcBef>
                          <a:spcPts val="0"/>
                        </a:spcBef>
                        <a:spcAft>
                          <a:spcPts val="0"/>
                        </a:spcAft>
                        <a:buNone/>
                      </a:pPr>
                      <a:r>
                        <a:rPr b="1" lang="en-US" sz="1100">
                          <a:latin typeface="Calibri"/>
                          <a:ea typeface="Calibri"/>
                          <a:cs typeface="Calibri"/>
                          <a:sym typeface="Calibri"/>
                        </a:rPr>
                        <a:t>Sum of Expense (INR)</a:t>
                      </a:r>
                      <a:endParaRPr b="1" sz="1100">
                        <a:latin typeface="Calibri"/>
                        <a:ea typeface="Calibri"/>
                        <a:cs typeface="Calibri"/>
                        <a:sym typeface="Calibri"/>
                      </a:endParaRPr>
                    </a:p>
                  </a:txBody>
                  <a:tcPr marT="91425" marB="91425" marR="91425" marL="91425">
                    <a:lnB cap="flat" cmpd="sng" w="7625">
                      <a:solidFill>
                        <a:srgbClr val="9BC2E6"/>
                      </a:solidFill>
                      <a:prstDash val="solid"/>
                      <a:round/>
                      <a:headEnd len="sm" w="sm" type="none"/>
                      <a:tailEnd len="sm" w="sm" type="none"/>
                    </a:lnB>
                    <a:solidFill>
                      <a:srgbClr val="DDEBF7"/>
                    </a:solidFill>
                  </a:tcPr>
                </a:tc>
              </a:tr>
              <a:tr h="286000">
                <a:tc>
                  <a:txBody>
                    <a:bodyPr/>
                    <a:lstStyle/>
                    <a:p>
                      <a:pPr indent="0" lvl="0" marL="0" rtl="0" algn="l">
                        <a:spcBef>
                          <a:spcPts val="0"/>
                        </a:spcBef>
                        <a:spcAft>
                          <a:spcPts val="0"/>
                        </a:spcAft>
                        <a:buNone/>
                      </a:pPr>
                      <a:r>
                        <a:rPr lang="en-US"/>
                        <a:t>Doctor and Medicine</a:t>
                      </a:r>
                      <a:endParaRPr/>
                    </a:p>
                  </a:txBody>
                  <a:tcPr marT="91425" marB="91425" marR="91425" marL="91425">
                    <a:lnT cap="flat" cmpd="sng" w="7625">
                      <a:solidFill>
                        <a:srgbClr val="9BC2E6"/>
                      </a:solidFill>
                      <a:prstDash val="solid"/>
                      <a:round/>
                      <a:headEnd len="sm" w="sm" type="none"/>
                      <a:tailEnd len="sm" w="sm" type="none"/>
                    </a:lnT>
                    <a:noFill/>
                  </a:tcPr>
                </a:tc>
                <a:tc>
                  <a:txBody>
                    <a:bodyPr/>
                    <a:lstStyle/>
                    <a:p>
                      <a:pPr indent="0" lvl="0" marL="0" rtl="0" algn="r">
                        <a:lnSpc>
                          <a:spcPct val="115000"/>
                        </a:lnSpc>
                        <a:spcBef>
                          <a:spcPts val="0"/>
                        </a:spcBef>
                        <a:spcAft>
                          <a:spcPts val="0"/>
                        </a:spcAft>
                        <a:buNone/>
                      </a:pPr>
                      <a:r>
                        <a:rPr lang="en-US"/>
                        <a:t>4000</a:t>
                      </a:r>
                      <a:endParaRPr/>
                    </a:p>
                  </a:txBody>
                  <a:tcPr marT="91425" marB="91425" marR="91425" marL="91425">
                    <a:lnT cap="flat" cmpd="sng" w="7625">
                      <a:solidFill>
                        <a:srgbClr val="9BC2E6"/>
                      </a:solidFill>
                      <a:prstDash val="solid"/>
                      <a:round/>
                      <a:headEnd len="sm" w="sm" type="none"/>
                      <a:tailEnd len="sm" w="sm" type="none"/>
                    </a:lnT>
                    <a:noFill/>
                  </a:tcPr>
                </a:tc>
              </a:tr>
              <a:tr h="286000">
                <a:tc>
                  <a:txBody>
                    <a:bodyPr/>
                    <a:lstStyle/>
                    <a:p>
                      <a:pPr indent="0" lvl="0" marL="0" rtl="0" algn="l">
                        <a:spcBef>
                          <a:spcPts val="0"/>
                        </a:spcBef>
                        <a:spcAft>
                          <a:spcPts val="0"/>
                        </a:spcAft>
                        <a:buNone/>
                      </a:pPr>
                      <a:r>
                        <a:rPr lang="en-US"/>
                        <a:t>Entertainment</a:t>
                      </a:r>
                      <a:endParaRPr/>
                    </a:p>
                  </a:txBody>
                  <a:tcPr marT="91425" marB="91425" marR="91425" marL="91425">
                    <a:noFill/>
                  </a:tcPr>
                </a:tc>
                <a:tc>
                  <a:txBody>
                    <a:bodyPr/>
                    <a:lstStyle/>
                    <a:p>
                      <a:pPr indent="0" lvl="0" marL="0" rtl="0" algn="r">
                        <a:lnSpc>
                          <a:spcPct val="115000"/>
                        </a:lnSpc>
                        <a:spcBef>
                          <a:spcPts val="0"/>
                        </a:spcBef>
                        <a:spcAft>
                          <a:spcPts val="0"/>
                        </a:spcAft>
                        <a:buNone/>
                      </a:pPr>
                      <a:r>
                        <a:rPr lang="en-US"/>
                        <a:t>12000</a:t>
                      </a:r>
                      <a:endParaRPr/>
                    </a:p>
                  </a:txBody>
                  <a:tcPr marT="91425" marB="91425" marR="91425" marL="91425">
                    <a:noFill/>
                  </a:tcPr>
                </a:tc>
              </a:tr>
              <a:tr h="204550">
                <a:tc>
                  <a:txBody>
                    <a:bodyPr/>
                    <a:lstStyle/>
                    <a:p>
                      <a:pPr indent="0" lvl="0" marL="0" rtl="0" algn="l">
                        <a:spcBef>
                          <a:spcPts val="0"/>
                        </a:spcBef>
                        <a:spcAft>
                          <a:spcPts val="0"/>
                        </a:spcAft>
                        <a:buNone/>
                      </a:pPr>
                      <a:r>
                        <a:rPr lang="en-US"/>
                        <a:t>Food</a:t>
                      </a:r>
                      <a:endParaRPr/>
                    </a:p>
                  </a:txBody>
                  <a:tcPr marT="91425" marB="91425" marR="91425" marL="91425">
                    <a:noFill/>
                  </a:tcPr>
                </a:tc>
                <a:tc>
                  <a:txBody>
                    <a:bodyPr/>
                    <a:lstStyle/>
                    <a:p>
                      <a:pPr indent="0" lvl="0" marL="0" rtl="0" algn="r">
                        <a:lnSpc>
                          <a:spcPct val="115000"/>
                        </a:lnSpc>
                        <a:spcBef>
                          <a:spcPts val="0"/>
                        </a:spcBef>
                        <a:spcAft>
                          <a:spcPts val="0"/>
                        </a:spcAft>
                        <a:buNone/>
                      </a:pPr>
                      <a:r>
                        <a:rPr lang="en-US"/>
                        <a:t>4940</a:t>
                      </a:r>
                      <a:endParaRPr/>
                    </a:p>
                  </a:txBody>
                  <a:tcPr marT="91425" marB="91425" marR="91425" marL="91425">
                    <a:noFill/>
                  </a:tcPr>
                </a:tc>
              </a:tr>
              <a:tr h="204550">
                <a:tc>
                  <a:txBody>
                    <a:bodyPr/>
                    <a:lstStyle/>
                    <a:p>
                      <a:pPr indent="0" lvl="0" marL="0" rtl="0" algn="l">
                        <a:spcBef>
                          <a:spcPts val="0"/>
                        </a:spcBef>
                        <a:spcAft>
                          <a:spcPts val="0"/>
                        </a:spcAft>
                        <a:buNone/>
                      </a:pPr>
                      <a:r>
                        <a:rPr lang="en-US"/>
                        <a:t>Grocery</a:t>
                      </a:r>
                      <a:endParaRPr/>
                    </a:p>
                  </a:txBody>
                  <a:tcPr marT="91425" marB="91425" marR="91425" marL="91425">
                    <a:noFill/>
                  </a:tcPr>
                </a:tc>
                <a:tc>
                  <a:txBody>
                    <a:bodyPr/>
                    <a:lstStyle/>
                    <a:p>
                      <a:pPr indent="0" lvl="0" marL="0" rtl="0" algn="r">
                        <a:lnSpc>
                          <a:spcPct val="115000"/>
                        </a:lnSpc>
                        <a:spcBef>
                          <a:spcPts val="0"/>
                        </a:spcBef>
                        <a:spcAft>
                          <a:spcPts val="0"/>
                        </a:spcAft>
                        <a:buNone/>
                      </a:pPr>
                      <a:r>
                        <a:rPr lang="en-US"/>
                        <a:t>30990</a:t>
                      </a:r>
                      <a:endParaRPr/>
                    </a:p>
                  </a:txBody>
                  <a:tcPr marT="91425" marB="91425" marR="91425" marL="91425">
                    <a:noFill/>
                  </a:tcPr>
                </a:tc>
              </a:tr>
              <a:tr h="286000">
                <a:tc>
                  <a:txBody>
                    <a:bodyPr/>
                    <a:lstStyle/>
                    <a:p>
                      <a:pPr indent="0" lvl="0" marL="0" rtl="0" algn="l">
                        <a:spcBef>
                          <a:spcPts val="0"/>
                        </a:spcBef>
                        <a:spcAft>
                          <a:spcPts val="0"/>
                        </a:spcAft>
                        <a:buNone/>
                      </a:pPr>
                      <a:r>
                        <a:rPr lang="en-US"/>
                        <a:t>Miscellaneous</a:t>
                      </a:r>
                      <a:endParaRPr/>
                    </a:p>
                  </a:txBody>
                  <a:tcPr marT="91425" marB="91425" marR="91425" marL="91425">
                    <a:noFill/>
                  </a:tcPr>
                </a:tc>
                <a:tc>
                  <a:txBody>
                    <a:bodyPr/>
                    <a:lstStyle/>
                    <a:p>
                      <a:pPr indent="0" lvl="0" marL="0" rtl="0" algn="r">
                        <a:lnSpc>
                          <a:spcPct val="115000"/>
                        </a:lnSpc>
                        <a:spcBef>
                          <a:spcPts val="0"/>
                        </a:spcBef>
                        <a:spcAft>
                          <a:spcPts val="0"/>
                        </a:spcAft>
                        <a:buNone/>
                      </a:pPr>
                      <a:r>
                        <a:rPr lang="en-US"/>
                        <a:t>7720</a:t>
                      </a:r>
                      <a:endParaRPr/>
                    </a:p>
                  </a:txBody>
                  <a:tcPr marT="91425" marB="91425" marR="91425" marL="91425">
                    <a:noFill/>
                  </a:tcPr>
                </a:tc>
              </a:tr>
              <a:tr h="204550">
                <a:tc>
                  <a:txBody>
                    <a:bodyPr/>
                    <a:lstStyle/>
                    <a:p>
                      <a:pPr indent="0" lvl="0" marL="0" rtl="0" algn="l">
                        <a:spcBef>
                          <a:spcPts val="0"/>
                        </a:spcBef>
                        <a:spcAft>
                          <a:spcPts val="0"/>
                        </a:spcAft>
                        <a:buNone/>
                      </a:pPr>
                      <a:r>
                        <a:rPr lang="en-US"/>
                        <a:t>Shopping</a:t>
                      </a:r>
                      <a:endParaRPr/>
                    </a:p>
                  </a:txBody>
                  <a:tcPr marT="91425" marB="91425" marR="91425" marL="91425">
                    <a:noFill/>
                  </a:tcPr>
                </a:tc>
                <a:tc>
                  <a:txBody>
                    <a:bodyPr/>
                    <a:lstStyle/>
                    <a:p>
                      <a:pPr indent="0" lvl="0" marL="0" rtl="0" algn="r">
                        <a:lnSpc>
                          <a:spcPct val="115000"/>
                        </a:lnSpc>
                        <a:spcBef>
                          <a:spcPts val="0"/>
                        </a:spcBef>
                        <a:spcAft>
                          <a:spcPts val="0"/>
                        </a:spcAft>
                        <a:buNone/>
                      </a:pPr>
                      <a:r>
                        <a:rPr lang="en-US"/>
                        <a:t>8700</a:t>
                      </a:r>
                      <a:endParaRPr/>
                    </a:p>
                  </a:txBody>
                  <a:tcPr marT="91425" marB="91425" marR="91425" marL="91425">
                    <a:noFill/>
                  </a:tcPr>
                </a:tc>
              </a:tr>
              <a:tr h="286000">
                <a:tc>
                  <a:txBody>
                    <a:bodyPr/>
                    <a:lstStyle/>
                    <a:p>
                      <a:pPr indent="0" lvl="0" marL="0" rtl="0" algn="l">
                        <a:spcBef>
                          <a:spcPts val="0"/>
                        </a:spcBef>
                        <a:spcAft>
                          <a:spcPts val="0"/>
                        </a:spcAft>
                        <a:buNone/>
                      </a:pPr>
                      <a:r>
                        <a:rPr lang="en-US"/>
                        <a:t>Ticket and Bills</a:t>
                      </a:r>
                      <a:endParaRPr/>
                    </a:p>
                  </a:txBody>
                  <a:tcPr marT="91425" marB="91425" marR="91425" marL="91425">
                    <a:lnB cap="flat" cmpd="sng" w="7625">
                      <a:solidFill>
                        <a:srgbClr val="9BC2E6"/>
                      </a:solidFill>
                      <a:prstDash val="solid"/>
                      <a:round/>
                      <a:headEnd len="sm" w="sm" type="none"/>
                      <a:tailEnd len="sm" w="sm" type="none"/>
                    </a:lnB>
                    <a:noFill/>
                  </a:tcPr>
                </a:tc>
                <a:tc>
                  <a:txBody>
                    <a:bodyPr/>
                    <a:lstStyle/>
                    <a:p>
                      <a:pPr indent="0" lvl="0" marL="0" rtl="0" algn="r">
                        <a:lnSpc>
                          <a:spcPct val="115000"/>
                        </a:lnSpc>
                        <a:spcBef>
                          <a:spcPts val="0"/>
                        </a:spcBef>
                        <a:spcAft>
                          <a:spcPts val="0"/>
                        </a:spcAft>
                        <a:buNone/>
                      </a:pPr>
                      <a:r>
                        <a:rPr lang="en-US"/>
                        <a:t>16040</a:t>
                      </a:r>
                      <a:endParaRPr/>
                    </a:p>
                  </a:txBody>
                  <a:tcPr marT="91425" marB="91425" marR="91425" marL="91425">
                    <a:lnB cap="flat" cmpd="sng" w="7625">
                      <a:solidFill>
                        <a:srgbClr val="9BC2E6"/>
                      </a:solidFill>
                      <a:prstDash val="solid"/>
                      <a:round/>
                      <a:headEnd len="sm" w="sm" type="none"/>
                      <a:tailEnd len="sm" w="sm" type="none"/>
                    </a:lnB>
                    <a:noFill/>
                  </a:tcPr>
                </a:tc>
              </a:tr>
              <a:tr h="177375">
                <a:tc>
                  <a:txBody>
                    <a:bodyPr/>
                    <a:lstStyle/>
                    <a:p>
                      <a:pPr indent="0" lvl="0" marL="0" rtl="0" algn="l">
                        <a:spcBef>
                          <a:spcPts val="0"/>
                        </a:spcBef>
                        <a:spcAft>
                          <a:spcPts val="0"/>
                        </a:spcAft>
                        <a:buNone/>
                      </a:pPr>
                      <a:r>
                        <a:rPr b="1" lang="en-US" sz="1100">
                          <a:latin typeface="Calibri"/>
                          <a:ea typeface="Calibri"/>
                          <a:cs typeface="Calibri"/>
                          <a:sym typeface="Calibri"/>
                        </a:rPr>
                        <a:t>Grand Total</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c>
                  <a:txBody>
                    <a:bodyPr/>
                    <a:lstStyle/>
                    <a:p>
                      <a:pPr indent="0" lvl="0" marL="0" rtl="0" algn="r">
                        <a:lnSpc>
                          <a:spcPct val="115000"/>
                        </a:lnSpc>
                        <a:spcBef>
                          <a:spcPts val="0"/>
                        </a:spcBef>
                        <a:spcAft>
                          <a:spcPts val="0"/>
                        </a:spcAft>
                        <a:buNone/>
                      </a:pPr>
                      <a:r>
                        <a:rPr b="1" lang="en-US" sz="1100">
                          <a:latin typeface="Calibri"/>
                          <a:ea typeface="Calibri"/>
                          <a:cs typeface="Calibri"/>
                          <a:sym typeface="Calibri"/>
                        </a:rPr>
                        <a:t>84390</a:t>
                      </a:r>
                      <a:endParaRPr b="1" sz="1100">
                        <a:latin typeface="Calibri"/>
                        <a:ea typeface="Calibri"/>
                        <a:cs typeface="Calibri"/>
                        <a:sym typeface="Calibri"/>
                      </a:endParaRPr>
                    </a:p>
                  </a:txBody>
                  <a:tcPr marT="91425" marB="91425" marR="91425" marL="91425">
                    <a:lnT cap="flat" cmpd="sng" w="7625">
                      <a:solidFill>
                        <a:srgbClr val="9BC2E6"/>
                      </a:solidFill>
                      <a:prstDash val="solid"/>
                      <a:round/>
                      <a:headEnd len="sm" w="sm" type="none"/>
                      <a:tailEnd len="sm" w="sm" type="none"/>
                    </a:lnT>
                    <a:solidFill>
                      <a:srgbClr val="DDEBF7"/>
                    </a:solidFill>
                  </a:tcPr>
                </a:tc>
              </a:tr>
            </a:tbl>
          </a:graphicData>
        </a:graphic>
      </p:graphicFrame>
      <p:pic>
        <p:nvPicPr>
          <p:cNvPr id="265" name="Google Shape;265;p27"/>
          <p:cNvPicPr preferRelativeResize="0"/>
          <p:nvPr/>
        </p:nvPicPr>
        <p:blipFill>
          <a:blip r:embed="rId3">
            <a:alphaModFix/>
          </a:blip>
          <a:stretch>
            <a:fillRect/>
          </a:stretch>
        </p:blipFill>
        <p:spPr>
          <a:xfrm>
            <a:off x="4591400" y="1061575"/>
            <a:ext cx="6098949" cy="3665858"/>
          </a:xfrm>
          <a:prstGeom prst="rect">
            <a:avLst/>
          </a:prstGeom>
          <a:noFill/>
          <a:ln>
            <a:noFill/>
          </a:ln>
        </p:spPr>
      </p:pic>
      <p:sp>
        <p:nvSpPr>
          <p:cNvPr id="266" name="Google Shape;266;p27"/>
          <p:cNvSpPr txBox="1"/>
          <p:nvPr/>
        </p:nvSpPr>
        <p:spPr>
          <a:xfrm>
            <a:off x="285375" y="5292975"/>
            <a:ext cx="7649400" cy="102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The data bars clearly show that Grocery has the highest expense (₹30,990), while Doctor and Medicine has the lowest expense (₹4,000), making it easy to visually compare the highest and lowest spending categories.</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nvSpPr>
        <p:spPr>
          <a:xfrm>
            <a:off x="890225" y="0"/>
            <a:ext cx="7480200" cy="5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050">
                <a:solidFill>
                  <a:schemeClr val="dk1"/>
                </a:solidFill>
              </a:rPr>
              <a:t>7. a) Month-wise expense of each category (Pivot Table)</a:t>
            </a:r>
            <a:endParaRPr b="1" sz="2050">
              <a:solidFill>
                <a:schemeClr val="dk1"/>
              </a:solidFill>
            </a:endParaRPr>
          </a:p>
        </p:txBody>
      </p:sp>
      <p:pic>
        <p:nvPicPr>
          <p:cNvPr id="273" name="Google Shape;273;p28" title="5.jpeg"/>
          <p:cNvPicPr preferRelativeResize="0"/>
          <p:nvPr/>
        </p:nvPicPr>
        <p:blipFill>
          <a:blip r:embed="rId3">
            <a:alphaModFix/>
          </a:blip>
          <a:stretch>
            <a:fillRect/>
          </a:stretch>
        </p:blipFill>
        <p:spPr>
          <a:xfrm>
            <a:off x="738800" y="722200"/>
            <a:ext cx="8962049" cy="1724025"/>
          </a:xfrm>
          <a:prstGeom prst="rect">
            <a:avLst/>
          </a:prstGeom>
          <a:noFill/>
          <a:ln>
            <a:noFill/>
          </a:ln>
        </p:spPr>
      </p:pic>
      <p:pic>
        <p:nvPicPr>
          <p:cNvPr id="274" name="Google Shape;274;p28" title="6.jpeg"/>
          <p:cNvPicPr preferRelativeResize="0"/>
          <p:nvPr/>
        </p:nvPicPr>
        <p:blipFill>
          <a:blip r:embed="rId4">
            <a:alphaModFix/>
          </a:blip>
          <a:stretch>
            <a:fillRect/>
          </a:stretch>
        </p:blipFill>
        <p:spPr>
          <a:xfrm>
            <a:off x="738800" y="2446225"/>
            <a:ext cx="7480225" cy="2858475"/>
          </a:xfrm>
          <a:prstGeom prst="rect">
            <a:avLst/>
          </a:prstGeom>
          <a:noFill/>
          <a:ln>
            <a:noFill/>
          </a:ln>
        </p:spPr>
      </p:pic>
      <p:sp>
        <p:nvSpPr>
          <p:cNvPr id="275" name="Google Shape;275;p28"/>
          <p:cNvSpPr txBox="1"/>
          <p:nvPr/>
        </p:nvSpPr>
        <p:spPr>
          <a:xfrm>
            <a:off x="674100" y="5416075"/>
            <a:ext cx="7262400" cy="1178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Month-wise expenses show that Grocery is consistently high (₹4,300–₹5,950 per month), Entertainment peaks in February (₹7,500), Ticket &amp; Bills range from ₹2,570–₹2,650 monthly, Food varies between ₹800–₹1,390, Shopping is occasional (₹1,500–₹2,000 in select months), while Doctor &amp; Medicine stays constant at ₹450 and Miscellaneous remains low (₹500–₹850).</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nvSpPr>
        <p:spPr>
          <a:xfrm>
            <a:off x="868900" y="0"/>
            <a:ext cx="82401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050">
                <a:solidFill>
                  <a:schemeClr val="dk1"/>
                </a:solidFill>
              </a:rPr>
              <a:t>7. </a:t>
            </a:r>
            <a:r>
              <a:rPr b="1" lang="en-US" sz="2050">
                <a:solidFill>
                  <a:schemeClr val="dk1"/>
                </a:solidFill>
              </a:rPr>
              <a:t>b) Find out 2 categories with higher expenses for each of the 6 months</a:t>
            </a:r>
            <a:endParaRPr b="1" sz="2050">
              <a:solidFill>
                <a:schemeClr val="dk1"/>
              </a:solidFill>
            </a:endParaRPr>
          </a:p>
        </p:txBody>
      </p:sp>
      <p:pic>
        <p:nvPicPr>
          <p:cNvPr id="282" name="Google Shape;282;p29" title="7.jpeg"/>
          <p:cNvPicPr preferRelativeResize="0"/>
          <p:nvPr/>
        </p:nvPicPr>
        <p:blipFill>
          <a:blip r:embed="rId3">
            <a:alphaModFix/>
          </a:blip>
          <a:stretch>
            <a:fillRect/>
          </a:stretch>
        </p:blipFill>
        <p:spPr>
          <a:xfrm>
            <a:off x="463450" y="1324850"/>
            <a:ext cx="5359925" cy="2711350"/>
          </a:xfrm>
          <a:prstGeom prst="rect">
            <a:avLst/>
          </a:prstGeom>
          <a:noFill/>
          <a:ln>
            <a:noFill/>
          </a:ln>
        </p:spPr>
      </p:pic>
      <p:pic>
        <p:nvPicPr>
          <p:cNvPr id="283" name="Google Shape;283;p29" title="8.jpeg"/>
          <p:cNvPicPr preferRelativeResize="0"/>
          <p:nvPr/>
        </p:nvPicPr>
        <p:blipFill>
          <a:blip r:embed="rId4">
            <a:alphaModFix/>
          </a:blip>
          <a:stretch>
            <a:fillRect/>
          </a:stretch>
        </p:blipFill>
        <p:spPr>
          <a:xfrm>
            <a:off x="5885462" y="1324850"/>
            <a:ext cx="4764475" cy="2711350"/>
          </a:xfrm>
          <a:prstGeom prst="rect">
            <a:avLst/>
          </a:prstGeom>
          <a:noFill/>
          <a:ln>
            <a:noFill/>
          </a:ln>
        </p:spPr>
      </p:pic>
      <p:sp>
        <p:nvSpPr>
          <p:cNvPr id="284" name="Google Shape;284;p29"/>
          <p:cNvSpPr txBox="1"/>
          <p:nvPr/>
        </p:nvSpPr>
        <p:spPr>
          <a:xfrm>
            <a:off x="463450" y="5029200"/>
            <a:ext cx="7368000" cy="96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For all 6 months, the two highest expense categories are Grocery and Ticket &amp; Bills: Grocery ranges from ₹4,300 to ₹5,950 per month, while Ticket &amp; Bills remain consistently high between ₹2,650 and ₹2,750, making them the top two spending categories every month.</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nvSpPr>
        <p:spPr>
          <a:xfrm>
            <a:off x="903250" y="0"/>
            <a:ext cx="9163800" cy="837600"/>
          </a:xfrm>
          <a:prstGeom prst="rect">
            <a:avLst/>
          </a:prstGeom>
          <a:noFill/>
          <a:ln>
            <a:noFill/>
          </a:ln>
        </p:spPr>
        <p:txBody>
          <a:bodyPr anchorCtr="0" anchor="t" bIns="91425" lIns="91425" spcFirstLastPara="1" rIns="91425" wrap="square" tIns="91425">
            <a:noAutofit/>
          </a:bodyPr>
          <a:lstStyle/>
          <a:p>
            <a:pPr indent="-285750" lvl="0" marL="285750" rtl="0" algn="l">
              <a:spcBef>
                <a:spcPts val="0"/>
              </a:spcBef>
              <a:spcAft>
                <a:spcPts val="0"/>
              </a:spcAft>
              <a:buClr>
                <a:schemeClr val="dk1"/>
              </a:buClr>
              <a:buSzPts val="1100"/>
              <a:buFont typeface="Arial"/>
              <a:buNone/>
            </a:pPr>
            <a:r>
              <a:rPr b="1" lang="en-US" sz="2050">
                <a:solidFill>
                  <a:schemeClr val="dk1"/>
                </a:solidFill>
              </a:rPr>
              <a:t>8. a) How much is spent in each month against different items of Entertainment, Food, and Shopping categories (Pivot Table)</a:t>
            </a:r>
            <a:endParaRPr b="1" sz="2050">
              <a:solidFill>
                <a:schemeClr val="dk1"/>
              </a:solidFill>
            </a:endParaRPr>
          </a:p>
        </p:txBody>
      </p:sp>
      <p:pic>
        <p:nvPicPr>
          <p:cNvPr id="291" name="Google Shape;291;p30" title="2.jpeg"/>
          <p:cNvPicPr preferRelativeResize="0"/>
          <p:nvPr/>
        </p:nvPicPr>
        <p:blipFill>
          <a:blip r:embed="rId3">
            <a:alphaModFix/>
          </a:blip>
          <a:stretch>
            <a:fillRect/>
          </a:stretch>
        </p:blipFill>
        <p:spPr>
          <a:xfrm>
            <a:off x="247650" y="3024550"/>
            <a:ext cx="7807501" cy="2610967"/>
          </a:xfrm>
          <a:prstGeom prst="rect">
            <a:avLst/>
          </a:prstGeom>
          <a:noFill/>
          <a:ln>
            <a:noFill/>
          </a:ln>
        </p:spPr>
      </p:pic>
      <p:pic>
        <p:nvPicPr>
          <p:cNvPr id="292" name="Google Shape;292;p30" title="1.jpeg"/>
          <p:cNvPicPr preferRelativeResize="0"/>
          <p:nvPr/>
        </p:nvPicPr>
        <p:blipFill>
          <a:blip r:embed="rId4">
            <a:alphaModFix/>
          </a:blip>
          <a:stretch>
            <a:fillRect/>
          </a:stretch>
        </p:blipFill>
        <p:spPr>
          <a:xfrm>
            <a:off x="275475" y="937850"/>
            <a:ext cx="10710051" cy="2086700"/>
          </a:xfrm>
          <a:prstGeom prst="rect">
            <a:avLst/>
          </a:prstGeom>
          <a:noFill/>
          <a:ln>
            <a:noFill/>
          </a:ln>
        </p:spPr>
      </p:pic>
      <p:sp>
        <p:nvSpPr>
          <p:cNvPr id="293" name="Google Shape;293;p30"/>
          <p:cNvSpPr txBox="1"/>
          <p:nvPr/>
        </p:nvSpPr>
        <p:spPr>
          <a:xfrm>
            <a:off x="178800" y="5705875"/>
            <a:ext cx="7707900" cy="1055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The month-wise analysis shows that Entertainment spending is highest in February (₹7,500, mainly on movies), Food expenses vary each month with dining out and online orders ranging from ₹800 to ₹1,390, and Shopping expenses occur selectively with higher spending in April and June (₹2,000–₹3,500), mainly on T-shirts, jeans, and shoes.</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1"/>
          <p:cNvSpPr txBox="1"/>
          <p:nvPr/>
        </p:nvSpPr>
        <p:spPr>
          <a:xfrm>
            <a:off x="902200" y="0"/>
            <a:ext cx="8622600" cy="837600"/>
          </a:xfrm>
          <a:prstGeom prst="rect">
            <a:avLst/>
          </a:prstGeom>
          <a:noFill/>
          <a:ln>
            <a:noFill/>
          </a:ln>
        </p:spPr>
        <p:txBody>
          <a:bodyPr anchorCtr="0" anchor="t" bIns="91425" lIns="91425" spcFirstLastPara="1" rIns="91425" wrap="square" tIns="91425">
            <a:noAutofit/>
          </a:bodyPr>
          <a:lstStyle/>
          <a:p>
            <a:pPr indent="-285750" lvl="0" marL="285750" rtl="0" algn="l">
              <a:spcBef>
                <a:spcPts val="0"/>
              </a:spcBef>
              <a:spcAft>
                <a:spcPts val="0"/>
              </a:spcAft>
              <a:buClr>
                <a:schemeClr val="dk1"/>
              </a:buClr>
              <a:buSzPts val="1100"/>
              <a:buFont typeface="Arial"/>
              <a:buNone/>
            </a:pPr>
            <a:r>
              <a:rPr b="1" lang="en-US" sz="2050">
                <a:solidFill>
                  <a:schemeClr val="dk1"/>
                </a:solidFill>
              </a:rPr>
              <a:t>8. </a:t>
            </a:r>
            <a:r>
              <a:rPr b="1" lang="en-US" sz="2050">
                <a:solidFill>
                  <a:schemeClr val="dk1"/>
                </a:solidFill>
              </a:rPr>
              <a:t>b) Find out which months have the highest amount spent for movies and  dining out</a:t>
            </a:r>
            <a:endParaRPr b="1" sz="2050">
              <a:solidFill>
                <a:schemeClr val="dk1"/>
              </a:solidFill>
            </a:endParaRPr>
          </a:p>
          <a:p>
            <a:pPr indent="0" lvl="0" marL="0" rtl="0" algn="l">
              <a:spcBef>
                <a:spcPts val="0"/>
              </a:spcBef>
              <a:spcAft>
                <a:spcPts val="0"/>
              </a:spcAft>
              <a:buNone/>
            </a:pPr>
            <a:r>
              <a:t/>
            </a:r>
            <a:endParaRPr b="1" sz="2050">
              <a:solidFill>
                <a:schemeClr val="dk1"/>
              </a:solidFill>
            </a:endParaRPr>
          </a:p>
        </p:txBody>
      </p:sp>
      <p:pic>
        <p:nvPicPr>
          <p:cNvPr id="300" name="Google Shape;300;p31" title="9.jpeg"/>
          <p:cNvPicPr preferRelativeResize="0"/>
          <p:nvPr/>
        </p:nvPicPr>
        <p:blipFill>
          <a:blip r:embed="rId3">
            <a:alphaModFix/>
          </a:blip>
          <a:stretch>
            <a:fillRect/>
          </a:stretch>
        </p:blipFill>
        <p:spPr>
          <a:xfrm>
            <a:off x="208450" y="1692125"/>
            <a:ext cx="5180550" cy="1867475"/>
          </a:xfrm>
          <a:prstGeom prst="rect">
            <a:avLst/>
          </a:prstGeom>
          <a:noFill/>
          <a:ln>
            <a:noFill/>
          </a:ln>
        </p:spPr>
      </p:pic>
      <p:pic>
        <p:nvPicPr>
          <p:cNvPr id="301" name="Google Shape;301;p31" title="10.jpeg"/>
          <p:cNvPicPr preferRelativeResize="0"/>
          <p:nvPr/>
        </p:nvPicPr>
        <p:blipFill>
          <a:blip r:embed="rId4">
            <a:alphaModFix/>
          </a:blip>
          <a:stretch>
            <a:fillRect/>
          </a:stretch>
        </p:blipFill>
        <p:spPr>
          <a:xfrm>
            <a:off x="5525537" y="1600950"/>
            <a:ext cx="5484325" cy="2471825"/>
          </a:xfrm>
          <a:prstGeom prst="rect">
            <a:avLst/>
          </a:prstGeom>
          <a:noFill/>
          <a:ln>
            <a:noFill/>
          </a:ln>
        </p:spPr>
      </p:pic>
      <p:sp>
        <p:nvSpPr>
          <p:cNvPr id="302" name="Google Shape;302;p31"/>
          <p:cNvSpPr txBox="1"/>
          <p:nvPr/>
        </p:nvSpPr>
        <p:spPr>
          <a:xfrm>
            <a:off x="550500" y="5169875"/>
            <a:ext cx="63306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The highest amount spent on movies is in February (₹1,000), while the highest spending on dining out is in March (₹800).</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2"/>
          <p:cNvSpPr txBox="1"/>
          <p:nvPr/>
        </p:nvSpPr>
        <p:spPr>
          <a:xfrm>
            <a:off x="919650" y="0"/>
            <a:ext cx="94593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050">
                <a:solidFill>
                  <a:schemeClr val="dk1"/>
                </a:solidFill>
              </a:rPr>
              <a:t>9. a)Decide on the essential and less essential items and analyse the expenses.</a:t>
            </a:r>
            <a:endParaRPr b="1" sz="2050">
              <a:solidFill>
                <a:schemeClr val="dk1"/>
              </a:solidFill>
            </a:endParaRPr>
          </a:p>
        </p:txBody>
      </p:sp>
      <p:pic>
        <p:nvPicPr>
          <p:cNvPr id="309" name="Google Shape;309;p32" title="11.jpeg"/>
          <p:cNvPicPr preferRelativeResize="0"/>
          <p:nvPr/>
        </p:nvPicPr>
        <p:blipFill>
          <a:blip r:embed="rId3">
            <a:alphaModFix/>
          </a:blip>
          <a:stretch>
            <a:fillRect/>
          </a:stretch>
        </p:blipFill>
        <p:spPr>
          <a:xfrm>
            <a:off x="426350" y="815700"/>
            <a:ext cx="5278176" cy="4741199"/>
          </a:xfrm>
          <a:prstGeom prst="rect">
            <a:avLst/>
          </a:prstGeom>
          <a:noFill/>
          <a:ln>
            <a:noFill/>
          </a:ln>
        </p:spPr>
      </p:pic>
      <p:pic>
        <p:nvPicPr>
          <p:cNvPr id="310" name="Google Shape;310;p32" title="15.jpeg"/>
          <p:cNvPicPr preferRelativeResize="0"/>
          <p:nvPr/>
        </p:nvPicPr>
        <p:blipFill>
          <a:blip r:embed="rId4">
            <a:alphaModFix/>
          </a:blip>
          <a:stretch>
            <a:fillRect/>
          </a:stretch>
        </p:blipFill>
        <p:spPr>
          <a:xfrm>
            <a:off x="5704525" y="815700"/>
            <a:ext cx="5126350" cy="4741200"/>
          </a:xfrm>
          <a:prstGeom prst="rect">
            <a:avLst/>
          </a:prstGeom>
          <a:noFill/>
          <a:ln>
            <a:noFill/>
          </a:ln>
        </p:spPr>
      </p:pic>
      <p:sp>
        <p:nvSpPr>
          <p:cNvPr id="311" name="Google Shape;311;p32"/>
          <p:cNvSpPr txBox="1"/>
          <p:nvPr/>
        </p:nvSpPr>
        <p:spPr>
          <a:xfrm>
            <a:off x="298950" y="5556900"/>
            <a:ext cx="7842900" cy="1301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rPr>
              <a:t>Essential expenses include groceries, medical needs, and fixed bills such as electricity, gas, house help, and tuition, as these are necessary and recurring. Less essential expenses include entertainment, dining out, online food orders, shopping, and gifts. The analysis shows that most spending is on essentials, while discretionary expenses form a smaller but controllable portion of the total.</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nvSpPr>
        <p:spPr>
          <a:xfrm>
            <a:off x="607200" y="949125"/>
            <a:ext cx="9590700" cy="3399600"/>
          </a:xfrm>
          <a:prstGeom prst="rect">
            <a:avLst/>
          </a:prstGeom>
          <a:noFill/>
          <a:ln>
            <a:noFill/>
          </a:ln>
        </p:spPr>
        <p:txBody>
          <a:bodyPr anchorCtr="0" anchor="t" bIns="91425" lIns="91425" spcFirstLastPara="1" rIns="91425" wrap="square" tIns="91425">
            <a:noAutofit/>
          </a:bodyPr>
          <a:lstStyle/>
          <a:p>
            <a:pPr indent="-358775" lvl="0" marL="457200" rtl="0" algn="l">
              <a:lnSpc>
                <a:spcPct val="115000"/>
              </a:lnSpc>
              <a:spcBef>
                <a:spcPts val="1200"/>
              </a:spcBef>
              <a:spcAft>
                <a:spcPts val="0"/>
              </a:spcAft>
              <a:buClr>
                <a:schemeClr val="dk1"/>
              </a:buClr>
              <a:buSzPts val="2050"/>
              <a:buChar char="❖"/>
            </a:pPr>
            <a:r>
              <a:rPr lang="en-US" sz="2050">
                <a:solidFill>
                  <a:schemeClr val="dk1"/>
                </a:solidFill>
              </a:rPr>
              <a:t>Reduce spending on entertainment such as movies and outings.</a:t>
            </a:r>
            <a:endParaRPr sz="2050">
              <a:solidFill>
                <a:schemeClr val="dk1"/>
              </a:solidFill>
            </a:endParaRPr>
          </a:p>
          <a:p>
            <a:pPr indent="-358775" lvl="0" marL="457200" rtl="0" algn="l">
              <a:lnSpc>
                <a:spcPct val="115000"/>
              </a:lnSpc>
              <a:spcBef>
                <a:spcPts val="0"/>
              </a:spcBef>
              <a:spcAft>
                <a:spcPts val="0"/>
              </a:spcAft>
              <a:buClr>
                <a:schemeClr val="dk1"/>
              </a:buClr>
              <a:buSzPts val="2050"/>
              <a:buChar char="❖"/>
            </a:pPr>
            <a:r>
              <a:rPr lang="en-US" sz="2050">
                <a:solidFill>
                  <a:schemeClr val="dk1"/>
                </a:solidFill>
              </a:rPr>
              <a:t>Cut down on dining out and online food orders by preferring home-cooked meals.</a:t>
            </a:r>
            <a:endParaRPr sz="2050">
              <a:solidFill>
                <a:schemeClr val="dk1"/>
              </a:solidFill>
            </a:endParaRPr>
          </a:p>
          <a:p>
            <a:pPr indent="-358775" lvl="0" marL="457200" rtl="0" algn="l">
              <a:lnSpc>
                <a:spcPct val="115000"/>
              </a:lnSpc>
              <a:spcBef>
                <a:spcPts val="0"/>
              </a:spcBef>
              <a:spcAft>
                <a:spcPts val="0"/>
              </a:spcAft>
              <a:buClr>
                <a:schemeClr val="dk1"/>
              </a:buClr>
              <a:buSzPts val="2050"/>
              <a:buChar char="❖"/>
            </a:pPr>
            <a:r>
              <a:rPr lang="en-US" sz="2050">
                <a:solidFill>
                  <a:schemeClr val="dk1"/>
                </a:solidFill>
              </a:rPr>
              <a:t>Control shopping for clothes, shoes, and accessories by setting a budget.</a:t>
            </a:r>
            <a:endParaRPr sz="2050">
              <a:solidFill>
                <a:schemeClr val="dk1"/>
              </a:solidFill>
            </a:endParaRPr>
          </a:p>
          <a:p>
            <a:pPr indent="-358775" lvl="0" marL="457200" rtl="0" algn="l">
              <a:lnSpc>
                <a:spcPct val="115000"/>
              </a:lnSpc>
              <a:spcBef>
                <a:spcPts val="0"/>
              </a:spcBef>
              <a:spcAft>
                <a:spcPts val="0"/>
              </a:spcAft>
              <a:buClr>
                <a:schemeClr val="dk1"/>
              </a:buClr>
              <a:buSzPts val="2050"/>
              <a:buChar char="❖"/>
            </a:pPr>
            <a:r>
              <a:rPr lang="en-US" sz="2050">
                <a:solidFill>
                  <a:schemeClr val="dk1"/>
                </a:solidFill>
              </a:rPr>
              <a:t>Avoid frequent purchase of snacks, beverages, and fast food.</a:t>
            </a:r>
            <a:endParaRPr sz="2050">
              <a:solidFill>
                <a:schemeClr val="dk1"/>
              </a:solidFill>
            </a:endParaRPr>
          </a:p>
          <a:p>
            <a:pPr indent="-358775" lvl="0" marL="457200" rtl="0" algn="l">
              <a:lnSpc>
                <a:spcPct val="115000"/>
              </a:lnSpc>
              <a:spcBef>
                <a:spcPts val="0"/>
              </a:spcBef>
              <a:spcAft>
                <a:spcPts val="0"/>
              </a:spcAft>
              <a:buClr>
                <a:schemeClr val="dk1"/>
              </a:buClr>
              <a:buSzPts val="2050"/>
              <a:buChar char="❖"/>
            </a:pPr>
            <a:r>
              <a:rPr lang="en-US" sz="2050">
                <a:solidFill>
                  <a:schemeClr val="dk1"/>
                </a:solidFill>
              </a:rPr>
              <a:t>Restrict spending on gifts and celebrations to planned occasions.</a:t>
            </a:r>
            <a:endParaRPr sz="2050">
              <a:solidFill>
                <a:schemeClr val="dk1"/>
              </a:solidFill>
            </a:endParaRPr>
          </a:p>
          <a:p>
            <a:pPr indent="-358775" lvl="0" marL="457200" rtl="0" algn="l">
              <a:lnSpc>
                <a:spcPct val="115000"/>
              </a:lnSpc>
              <a:spcBef>
                <a:spcPts val="0"/>
              </a:spcBef>
              <a:spcAft>
                <a:spcPts val="0"/>
              </a:spcAft>
              <a:buClr>
                <a:schemeClr val="dk1"/>
              </a:buClr>
              <a:buSzPts val="2050"/>
              <a:buChar char="❖"/>
            </a:pPr>
            <a:r>
              <a:rPr lang="en-US" sz="2050">
                <a:solidFill>
                  <a:schemeClr val="dk1"/>
                </a:solidFill>
              </a:rPr>
              <a:t>Avoid luxury and non-urgent purchases and focus on essential needs.</a:t>
            </a:r>
            <a:endParaRPr sz="2050">
              <a:solidFill>
                <a:schemeClr val="dk1"/>
              </a:solidFill>
            </a:endParaRPr>
          </a:p>
        </p:txBody>
      </p:sp>
      <p:sp>
        <p:nvSpPr>
          <p:cNvPr id="318" name="Google Shape;318;p33"/>
          <p:cNvSpPr txBox="1"/>
          <p:nvPr/>
        </p:nvSpPr>
        <p:spPr>
          <a:xfrm>
            <a:off x="924000" y="52500"/>
            <a:ext cx="8334300" cy="6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050">
                <a:solidFill>
                  <a:schemeClr val="dk1"/>
                </a:solidFill>
              </a:rPr>
              <a:t>9. </a:t>
            </a:r>
            <a:r>
              <a:rPr b="1" lang="en-US" sz="2050">
                <a:solidFill>
                  <a:schemeClr val="dk1"/>
                </a:solidFill>
              </a:rPr>
              <a:t>b)Recommend how Nitin can increase his savings</a:t>
            </a:r>
            <a:endParaRPr b="1" sz="205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txBox="1"/>
          <p:nvPr>
            <p:ph type="title"/>
          </p:nvPr>
        </p:nvSpPr>
        <p:spPr>
          <a:xfrm>
            <a:off x="1167492" y="69008"/>
            <a:ext cx="9779183" cy="1706563"/>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chemeClr val="lt1"/>
              </a:buClr>
              <a:buSzPts val="4200"/>
              <a:buFont typeface="Arial"/>
              <a:buNone/>
            </a:pPr>
            <a:r>
              <a:rPr lang="en-US"/>
              <a:t>Conclusion</a:t>
            </a:r>
            <a:endParaRPr/>
          </a:p>
        </p:txBody>
      </p:sp>
      <p:sp>
        <p:nvSpPr>
          <p:cNvPr id="325" name="Google Shape;325;p34"/>
          <p:cNvSpPr txBox="1"/>
          <p:nvPr>
            <p:ph idx="1" type="body"/>
          </p:nvPr>
        </p:nvSpPr>
        <p:spPr>
          <a:xfrm>
            <a:off x="1166850" y="2024075"/>
            <a:ext cx="10164600" cy="2607000"/>
          </a:xfrm>
          <a:prstGeom prst="rect">
            <a:avLst/>
          </a:prstGeom>
          <a:noFill/>
          <a:ln>
            <a:noFill/>
          </a:ln>
        </p:spPr>
        <p:txBody>
          <a:bodyPr anchorCtr="0" anchor="t" bIns="45700" lIns="91425" spcFirstLastPara="1" rIns="91425" wrap="square" tIns="45700">
            <a:normAutofit/>
          </a:bodyPr>
          <a:lstStyle/>
          <a:p>
            <a:pPr indent="0" lvl="0" marL="57150" rtl="0" algn="just">
              <a:lnSpc>
                <a:spcPct val="115000"/>
              </a:lnSpc>
              <a:spcBef>
                <a:spcPts val="1000"/>
              </a:spcBef>
              <a:spcAft>
                <a:spcPts val="0"/>
              </a:spcAft>
              <a:buNone/>
            </a:pPr>
            <a:r>
              <a:rPr lang="en-US" sz="2050"/>
              <a:t>From the expense analysis, it is evident that Nithin’s inability to buy a bike is mainly due to high spending on less essential items despite earning a steady salary of ₹15,000. By reducing unnecessary expenses and prioritizing essential needs, Nithin can significantly improve his savings. Proper budgeting, expense tracking, and controlled spending will help him allocate funds toward his goal. With disciplined financial planning, purchasing a bike becomes achievable within a short period.</a:t>
            </a:r>
            <a:endParaRPr sz="20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5"/>
          <p:cNvSpPr txBox="1"/>
          <p:nvPr>
            <p:ph type="ctrTitle"/>
          </p:nvPr>
        </p:nvSpPr>
        <p:spPr>
          <a:xfrm>
            <a:off x="1167494" y="252549"/>
            <a:ext cx="6220278" cy="3262811"/>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chemeClr val="dk1"/>
              </a:buClr>
              <a:buSzPts val="6000"/>
              <a:buFont typeface="Arial"/>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